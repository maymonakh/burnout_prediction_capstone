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203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Say: "Our project uses machine learning to predict which remote employees are at risk of burnout — before the damage is done. We built a complete pipeline from raw data to a deployed Streamlit app, and today we'll walk you through the full 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numbers come directly from our dataset — they're not estimates."
"High-Risk employees average 12-hour days, report fatigue near 10/10, and sleep only 5 hours."
"The core problem: by the time a company notices, it's too late — the employee is already burned out."
Transition: "So what exactly are we trying to predict?"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variable is burnout_risk — a 3-class label from the dataset."
"The class distribution is highly imbalanced: only 7% of employees are High-Risk."
"That 7% is exactly the group we care most about — and the hardest to predict correctly."
"Note: burnout_score was excluded from the model because it directly encodes the target — keeping it would give fake 100% accuracy. This is data leakage, which we'll explain."
Transition: "Let's look at the dataset we worked with."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records, 14 columns — we used 12 as features."
"Two columns were excluded: user_id (non-informative) and burnout_score (data leakage)."
"The starred features — fatigue_score and isolation_index — turned out to be our two strongest predictors, as confirmed by the Random Forest feature importance chart coming up."
Transition: "Let's explore the data before modeling."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chart:
"Top-left: class distribution — only 7% High-Risk. This drove our decision to use class weighting."
"Top-right: work hours — High-Risk employees work 12+ hours. There's clear separation."
"Bottom-left: sleep hours — the lower the sleep, the higher the risk. Median for High is around 5 hours."
"Bottom-right: screen time — mirrors work hours closely, which the correlation heatmap confirms later."
Transition: "Now let's look at which features matter most."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that explain our feature selection decisions."
"Left — the correlation heatmap: burnout_score has 0.90 correlation with fatigue_score and 0.77 with isolation_index — it's nearly a linear combination of other features AND the target. This is why we removed it."
"Right — Random Forest feature importance: fatigue_score is #1 at 28%, isolation_index #2 at 24%, sleep_hours #3 at 17%. Work hours is only 9% — burnout is multidimensional."
"Key insight: work hours alone do NOT predict burnout. Fatigue and social isolation matter far more."
Transition: "With this understanding, let's look at our pipeline."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8 steps clearly, explaining the WHY behind each:
"Step 3 is the most important decision: we dropped burnout_score. The heatmap showed it has 0.90 correlation with the target. Keeping it = fake accuracy."
"Step 4: 138 High-Risk samples out of 2,000 is a serious imbalance. class_weight='balanced' gives minority class proportionally more training weight."
"Step 5: Stratified split ensures all three classes appear proportionally in both train and test sets."
"Step 6: StandardScaler is required for Logistic Regression to converge properly."
Transition: "After running all three models, here's what we got."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three models in order of complexity."
"Decision Tree: 93.25% accuracy — good baseline but overfits."
"Random Forest: 97.00% — big jump. 200 trees, stable."
"Logistic Regression: 97.50% — highest score with the simplest model."
"The accuracy gap between RF and LR is small, but LR wins on F1 macro average (0.96 vs 0.94) — which matters more because of class imbalance."
Transition: "Let's look at the numbers in detail and see the confusion matrices."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on the left is taken directly from our notebook — these are the real accuracy numbers: 93.25%, 97.00%, 97.50%."
"The confusion matrix on the right is Logistic Regression's actual output. Look at the diagonal: 25 Low, 200 Medium, 165 High correctly predicted."
"Errors: only 4 Medium cases misclassified as High, and 2 High cases missed. For an HR tool, that's excellent."
"Recall for High-Risk is 0.98 — we're catching 98% of the actual high-risk cases. That's the most important number."
Transition: "So why did Logistic Regression win?"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the simplest model win? This is the most common panel question — here's the answer."
"Reason 1: Our data is clean. No noise, no missing values. Linear models love this."
"Reason 2: The EDA confirmed the relationships ARE linear-ish. Random Forest's tree-splitting complexity was unnecessary overhead."
"Reason 3: class_weight='balanced' is what made LR competitive on the minority class. Without it, LR would ignore the 7%."
"Reason 4: HR cannot use a black box. They need to say 'this person is flagged because their fatigue is 9.5 and sleep is 4.5 hours.' LR's coefficients make this possible."
Panel question: "Why not XGBoost?" → "Fair point — that's listed as future work. Our data's linear structure made LR sufficient and superior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deliverable — a Streamlit app powered by our Logistic Regression model."
"The model is saved as model.pkl and loaded by the app on startup. The scaler is also exported as scaler.pkl."
"An HR team member enters the 12 metrics for any employee and gets an instant prediction."
"The feature weights shown are from our Random Forest feature importance analysis — they help explain the result."
"If you can run the app live, this is the moment to do it. It demonstrates the full pipeline end-to-end."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step back and ask: what did we actually learn?"
"#1: Fatigue at 9+ is nearly deterministic for High-Risk. If a company could track one metric, it's this."
"#2: Social isolation is underrated. Remote work policies often focus on productivity but ignore loneliness."
"#3: Sleep below 5.5 hours is a trackable, measurable signal. Companies can monitor this via wearables or surveys."
"#5: Screen time and work hours are 0.98 correlated. They measure the same thing essentially."
"#6: The Occam's Razor finding — simpler is sometimes better. This is a real lesson from the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rigorous project is honest about its limits. Here are ours."
"The most important: our data is synthetic. Before any real deployment, the model must be validated on actual anonymized HR data."
"We know about each limitation and we have a mitigation path for every one."
"Ethics: This tool is protective, not punitive. High-Risk = 'this person needs support.' Not 'fire this person.'"
"GDPR is non-negotiable for any HR deployment in the EU or similar jurisdictions."
Panel question: 'Could this be misused?' → 'Yes — which is exactly why we listed five explicit guardrails. The technology is only as ethical as the people deploying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strongly:
"In summary: we built a working ML system achieving 97.5% accuracy, deployed it as a usable HR tool, and discovered that fatigue and social isolation are the two strongest predictors of burnout — more powerful than work hours alone."
"Our model catches 98% of actual High-Risk employees. For an HR tool, that's the number that matters most."
"The biggest next step is real-world validation. The methodology is solid."
Open for Q&amp;A.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PANEL QUESTIONS:
Q: "Why did LR beat Random Forest?"
A: "Clean linear data — LR's assumptions matched our data structure. RF's tree complexity added no benefit."
Q: "How did you handle class imbalance?"
A: "class_weight='balanced' in scikit-learn. It weights the 138 High-Risk samples proportionally higher during training."
Q: "Why remove burnout_score?"
A: "The correlation heatmap shows 0.90 correlation with fatigue_score and it directly encodes the target. Data leakage."
Q: "Is Recall more important than Precision?"
A: "Yes — missing a High-Risk employee (false negative) is far more costly than a false alarm (false positive)."
Q: "Could this be used to fire employees?"
A: "Absolutely not. This is a support and intervention tool only. Ethical deployment requires human review of every prediction."
Q: "What's the accuracy on each class individually?"
A: "Low: 93% recall. Medium: 98%. High: 98%. High-Risk detection is our strongest result."
Q: "Why not try XGBoost?"
A: "Future work. Given our data's clean linear structure, LR was sufficient and outperformed RF. XGBoost may help further."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maymonakh-burnout-prediction-capstone-streamlitapp-cgoyy0.streamlit.ap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E7C7B"/>
          </a:solidFill>
          <a:ln w="12700">
            <a:solidFill>
              <a:srgbClr val="0E7C7B"/>
            </a:solidFill>
            <a:prstDash val="solid"/>
          </a:ln>
        </p:spPr>
      </p:sp>
      <p:sp>
        <p:nvSpPr>
          <p:cNvPr id="3" name="Shape 1"/>
          <p:cNvSpPr/>
          <p:nvPr/>
        </p:nvSpPr>
        <p:spPr>
          <a:xfrm>
            <a:off x="6217920" y="0"/>
            <a:ext cx="2926080" cy="5143500"/>
          </a:xfrm>
          <a:prstGeom prst="rect">
            <a:avLst/>
          </a:prstGeom>
          <a:solidFill>
            <a:srgbClr val="132038"/>
          </a:solidFill>
          <a:ln w="12700">
            <a:solidFill>
              <a:srgbClr val="132038"/>
            </a:solidFill>
            <a:prstDash val="solid"/>
          </a:ln>
        </p:spPr>
      </p:sp>
      <p:sp>
        <p:nvSpPr>
          <p:cNvPr id="4" name="Shape 2"/>
          <p:cNvSpPr/>
          <p:nvPr/>
        </p:nvSpPr>
        <p:spPr>
          <a:xfrm>
            <a:off x="6446520" y="365760"/>
            <a:ext cx="64008" cy="64008"/>
          </a:xfrm>
          <a:prstGeom prst="ellipse">
            <a:avLst/>
          </a:prstGeom>
          <a:solidFill>
            <a:srgbClr val="1E4060">
              <a:alpha val="60000"/>
            </a:srgbClr>
          </a:solidFill>
          <a:ln w="12700">
            <a:solidFill>
              <a:srgbClr val="1E4060"/>
            </a:solidFill>
            <a:prstDash val="solid"/>
          </a:ln>
        </p:spPr>
      </p:sp>
      <p:sp>
        <p:nvSpPr>
          <p:cNvPr id="5" name="Shape 3"/>
          <p:cNvSpPr/>
          <p:nvPr/>
        </p:nvSpPr>
        <p:spPr>
          <a:xfrm>
            <a:off x="7013448" y="365760"/>
            <a:ext cx="64008" cy="64008"/>
          </a:xfrm>
          <a:prstGeom prst="ellipse">
            <a:avLst/>
          </a:prstGeom>
          <a:solidFill>
            <a:srgbClr val="1E4060">
              <a:alpha val="60000"/>
            </a:srgbClr>
          </a:solidFill>
          <a:ln w="12700">
            <a:solidFill>
              <a:srgbClr val="1E4060"/>
            </a:solidFill>
            <a:prstDash val="solid"/>
          </a:ln>
        </p:spPr>
      </p:sp>
      <p:sp>
        <p:nvSpPr>
          <p:cNvPr id="6" name="Shape 4"/>
          <p:cNvSpPr/>
          <p:nvPr/>
        </p:nvSpPr>
        <p:spPr>
          <a:xfrm>
            <a:off x="7580376" y="365760"/>
            <a:ext cx="64008" cy="64008"/>
          </a:xfrm>
          <a:prstGeom prst="ellipse">
            <a:avLst/>
          </a:prstGeom>
          <a:solidFill>
            <a:srgbClr val="1E4060">
              <a:alpha val="60000"/>
            </a:srgbClr>
          </a:solidFill>
          <a:ln w="12700">
            <a:solidFill>
              <a:srgbClr val="1E4060"/>
            </a:solidFill>
            <a:prstDash val="solid"/>
          </a:ln>
        </p:spPr>
      </p:sp>
      <p:sp>
        <p:nvSpPr>
          <p:cNvPr id="7" name="Shape 5"/>
          <p:cNvSpPr/>
          <p:nvPr/>
        </p:nvSpPr>
        <p:spPr>
          <a:xfrm>
            <a:off x="8147304" y="365760"/>
            <a:ext cx="64008" cy="64008"/>
          </a:xfrm>
          <a:prstGeom prst="ellipse">
            <a:avLst/>
          </a:prstGeom>
          <a:solidFill>
            <a:srgbClr val="1E4060">
              <a:alpha val="60000"/>
            </a:srgbClr>
          </a:solidFill>
          <a:ln w="12700">
            <a:solidFill>
              <a:srgbClr val="1E4060"/>
            </a:solidFill>
            <a:prstDash val="solid"/>
          </a:ln>
        </p:spPr>
      </p:sp>
      <p:sp>
        <p:nvSpPr>
          <p:cNvPr id="8" name="Shape 6"/>
          <p:cNvSpPr/>
          <p:nvPr/>
        </p:nvSpPr>
        <p:spPr>
          <a:xfrm>
            <a:off x="6446520" y="1280160"/>
            <a:ext cx="64008" cy="64008"/>
          </a:xfrm>
          <a:prstGeom prst="ellipse">
            <a:avLst/>
          </a:prstGeom>
          <a:solidFill>
            <a:srgbClr val="1E4060">
              <a:alpha val="60000"/>
            </a:srgbClr>
          </a:solidFill>
          <a:ln w="12700">
            <a:solidFill>
              <a:srgbClr val="1E4060"/>
            </a:solidFill>
            <a:prstDash val="solid"/>
          </a:ln>
        </p:spPr>
      </p:sp>
      <p:sp>
        <p:nvSpPr>
          <p:cNvPr id="9" name="Shape 7"/>
          <p:cNvSpPr/>
          <p:nvPr/>
        </p:nvSpPr>
        <p:spPr>
          <a:xfrm>
            <a:off x="7013448" y="1280160"/>
            <a:ext cx="64008" cy="64008"/>
          </a:xfrm>
          <a:prstGeom prst="ellipse">
            <a:avLst/>
          </a:prstGeom>
          <a:solidFill>
            <a:srgbClr val="1E4060">
              <a:alpha val="60000"/>
            </a:srgbClr>
          </a:solidFill>
          <a:ln w="12700">
            <a:solidFill>
              <a:srgbClr val="1E4060"/>
            </a:solidFill>
            <a:prstDash val="solid"/>
          </a:ln>
        </p:spPr>
      </p:sp>
      <p:sp>
        <p:nvSpPr>
          <p:cNvPr id="10" name="Shape 8"/>
          <p:cNvSpPr/>
          <p:nvPr/>
        </p:nvSpPr>
        <p:spPr>
          <a:xfrm>
            <a:off x="7580376" y="1280160"/>
            <a:ext cx="64008" cy="64008"/>
          </a:xfrm>
          <a:prstGeom prst="ellipse">
            <a:avLst/>
          </a:prstGeom>
          <a:solidFill>
            <a:srgbClr val="1E4060">
              <a:alpha val="60000"/>
            </a:srgbClr>
          </a:solidFill>
          <a:ln w="12700">
            <a:solidFill>
              <a:srgbClr val="1E4060"/>
            </a:solidFill>
            <a:prstDash val="solid"/>
          </a:ln>
        </p:spPr>
      </p:sp>
      <p:sp>
        <p:nvSpPr>
          <p:cNvPr id="11" name="Shape 9"/>
          <p:cNvSpPr/>
          <p:nvPr/>
        </p:nvSpPr>
        <p:spPr>
          <a:xfrm>
            <a:off x="8147304" y="1280160"/>
            <a:ext cx="64008" cy="64008"/>
          </a:xfrm>
          <a:prstGeom prst="ellipse">
            <a:avLst/>
          </a:prstGeom>
          <a:solidFill>
            <a:srgbClr val="1E4060">
              <a:alpha val="60000"/>
            </a:srgbClr>
          </a:solidFill>
          <a:ln w="12700">
            <a:solidFill>
              <a:srgbClr val="1E4060"/>
            </a:solidFill>
            <a:prstDash val="solid"/>
          </a:ln>
        </p:spPr>
      </p:sp>
      <p:sp>
        <p:nvSpPr>
          <p:cNvPr id="12" name="Shape 10"/>
          <p:cNvSpPr/>
          <p:nvPr/>
        </p:nvSpPr>
        <p:spPr>
          <a:xfrm>
            <a:off x="6446520" y="2194560"/>
            <a:ext cx="64008" cy="64008"/>
          </a:xfrm>
          <a:prstGeom prst="ellipse">
            <a:avLst/>
          </a:prstGeom>
          <a:solidFill>
            <a:srgbClr val="1E4060">
              <a:alpha val="60000"/>
            </a:srgbClr>
          </a:solidFill>
          <a:ln w="12700">
            <a:solidFill>
              <a:srgbClr val="1E4060"/>
            </a:solidFill>
            <a:prstDash val="solid"/>
          </a:ln>
        </p:spPr>
      </p:sp>
      <p:sp>
        <p:nvSpPr>
          <p:cNvPr id="13" name="Shape 11"/>
          <p:cNvSpPr/>
          <p:nvPr/>
        </p:nvSpPr>
        <p:spPr>
          <a:xfrm>
            <a:off x="7013448" y="2194560"/>
            <a:ext cx="64008" cy="64008"/>
          </a:xfrm>
          <a:prstGeom prst="ellipse">
            <a:avLst/>
          </a:prstGeom>
          <a:solidFill>
            <a:srgbClr val="1E4060">
              <a:alpha val="60000"/>
            </a:srgbClr>
          </a:solidFill>
          <a:ln w="12700">
            <a:solidFill>
              <a:srgbClr val="1E4060"/>
            </a:solidFill>
            <a:prstDash val="solid"/>
          </a:ln>
        </p:spPr>
      </p:sp>
      <p:sp>
        <p:nvSpPr>
          <p:cNvPr id="14" name="Shape 12"/>
          <p:cNvSpPr/>
          <p:nvPr/>
        </p:nvSpPr>
        <p:spPr>
          <a:xfrm>
            <a:off x="7580376" y="2194560"/>
            <a:ext cx="64008" cy="64008"/>
          </a:xfrm>
          <a:prstGeom prst="ellipse">
            <a:avLst/>
          </a:prstGeom>
          <a:solidFill>
            <a:srgbClr val="1E4060">
              <a:alpha val="60000"/>
            </a:srgbClr>
          </a:solidFill>
          <a:ln w="12700">
            <a:solidFill>
              <a:srgbClr val="1E4060"/>
            </a:solidFill>
            <a:prstDash val="solid"/>
          </a:ln>
        </p:spPr>
      </p:sp>
      <p:sp>
        <p:nvSpPr>
          <p:cNvPr id="15" name="Shape 13"/>
          <p:cNvSpPr/>
          <p:nvPr/>
        </p:nvSpPr>
        <p:spPr>
          <a:xfrm>
            <a:off x="8147304" y="2194560"/>
            <a:ext cx="64008" cy="64008"/>
          </a:xfrm>
          <a:prstGeom prst="ellipse">
            <a:avLst/>
          </a:prstGeom>
          <a:solidFill>
            <a:srgbClr val="1E4060">
              <a:alpha val="60000"/>
            </a:srgbClr>
          </a:solidFill>
          <a:ln w="12700">
            <a:solidFill>
              <a:srgbClr val="1E4060"/>
            </a:solidFill>
            <a:prstDash val="solid"/>
          </a:ln>
        </p:spPr>
      </p:sp>
      <p:sp>
        <p:nvSpPr>
          <p:cNvPr id="16" name="Shape 14"/>
          <p:cNvSpPr/>
          <p:nvPr/>
        </p:nvSpPr>
        <p:spPr>
          <a:xfrm>
            <a:off x="6446520" y="3108960"/>
            <a:ext cx="64008" cy="64008"/>
          </a:xfrm>
          <a:prstGeom prst="ellipse">
            <a:avLst/>
          </a:prstGeom>
          <a:solidFill>
            <a:srgbClr val="1E4060">
              <a:alpha val="60000"/>
            </a:srgbClr>
          </a:solidFill>
          <a:ln w="12700">
            <a:solidFill>
              <a:srgbClr val="1E4060"/>
            </a:solidFill>
            <a:prstDash val="solid"/>
          </a:ln>
        </p:spPr>
      </p:sp>
      <p:sp>
        <p:nvSpPr>
          <p:cNvPr id="17" name="Shape 15"/>
          <p:cNvSpPr/>
          <p:nvPr/>
        </p:nvSpPr>
        <p:spPr>
          <a:xfrm>
            <a:off x="7013448" y="3108960"/>
            <a:ext cx="64008" cy="64008"/>
          </a:xfrm>
          <a:prstGeom prst="ellipse">
            <a:avLst/>
          </a:prstGeom>
          <a:solidFill>
            <a:srgbClr val="1E4060">
              <a:alpha val="60000"/>
            </a:srgbClr>
          </a:solidFill>
          <a:ln w="12700">
            <a:solidFill>
              <a:srgbClr val="1E4060"/>
            </a:solidFill>
            <a:prstDash val="solid"/>
          </a:ln>
        </p:spPr>
      </p:sp>
      <p:sp>
        <p:nvSpPr>
          <p:cNvPr id="18" name="Shape 16"/>
          <p:cNvSpPr/>
          <p:nvPr/>
        </p:nvSpPr>
        <p:spPr>
          <a:xfrm>
            <a:off x="7580376" y="3108960"/>
            <a:ext cx="64008" cy="64008"/>
          </a:xfrm>
          <a:prstGeom prst="ellipse">
            <a:avLst/>
          </a:prstGeom>
          <a:solidFill>
            <a:srgbClr val="1E4060">
              <a:alpha val="60000"/>
            </a:srgbClr>
          </a:solidFill>
          <a:ln w="12700">
            <a:solidFill>
              <a:srgbClr val="1E4060"/>
            </a:solidFill>
            <a:prstDash val="solid"/>
          </a:ln>
        </p:spPr>
      </p:sp>
      <p:sp>
        <p:nvSpPr>
          <p:cNvPr id="19" name="Shape 17"/>
          <p:cNvSpPr/>
          <p:nvPr/>
        </p:nvSpPr>
        <p:spPr>
          <a:xfrm>
            <a:off x="8147304" y="3108960"/>
            <a:ext cx="64008" cy="64008"/>
          </a:xfrm>
          <a:prstGeom prst="ellipse">
            <a:avLst/>
          </a:prstGeom>
          <a:solidFill>
            <a:srgbClr val="1E4060">
              <a:alpha val="60000"/>
            </a:srgbClr>
          </a:solidFill>
          <a:ln w="12700">
            <a:solidFill>
              <a:srgbClr val="1E4060"/>
            </a:solidFill>
            <a:prstDash val="solid"/>
          </a:ln>
        </p:spPr>
      </p:sp>
      <p:sp>
        <p:nvSpPr>
          <p:cNvPr id="20" name="Shape 18"/>
          <p:cNvSpPr/>
          <p:nvPr/>
        </p:nvSpPr>
        <p:spPr>
          <a:xfrm>
            <a:off x="6446520" y="4023360"/>
            <a:ext cx="64008" cy="64008"/>
          </a:xfrm>
          <a:prstGeom prst="ellipse">
            <a:avLst/>
          </a:prstGeom>
          <a:solidFill>
            <a:srgbClr val="1E4060">
              <a:alpha val="60000"/>
            </a:srgbClr>
          </a:solidFill>
          <a:ln w="12700">
            <a:solidFill>
              <a:srgbClr val="1E4060"/>
            </a:solidFill>
            <a:prstDash val="solid"/>
          </a:ln>
        </p:spPr>
      </p:sp>
      <p:sp>
        <p:nvSpPr>
          <p:cNvPr id="21" name="Shape 19"/>
          <p:cNvSpPr/>
          <p:nvPr/>
        </p:nvSpPr>
        <p:spPr>
          <a:xfrm>
            <a:off x="7013448" y="4023360"/>
            <a:ext cx="64008" cy="64008"/>
          </a:xfrm>
          <a:prstGeom prst="ellipse">
            <a:avLst/>
          </a:prstGeom>
          <a:solidFill>
            <a:srgbClr val="1E4060">
              <a:alpha val="60000"/>
            </a:srgbClr>
          </a:solidFill>
          <a:ln w="12700">
            <a:solidFill>
              <a:srgbClr val="1E4060"/>
            </a:solidFill>
            <a:prstDash val="solid"/>
          </a:ln>
        </p:spPr>
      </p:sp>
      <p:sp>
        <p:nvSpPr>
          <p:cNvPr id="22" name="Shape 20"/>
          <p:cNvSpPr/>
          <p:nvPr/>
        </p:nvSpPr>
        <p:spPr>
          <a:xfrm>
            <a:off x="7580376" y="4023360"/>
            <a:ext cx="64008" cy="64008"/>
          </a:xfrm>
          <a:prstGeom prst="ellipse">
            <a:avLst/>
          </a:prstGeom>
          <a:solidFill>
            <a:srgbClr val="1E4060">
              <a:alpha val="60000"/>
            </a:srgbClr>
          </a:solidFill>
          <a:ln w="12700">
            <a:solidFill>
              <a:srgbClr val="1E4060"/>
            </a:solidFill>
            <a:prstDash val="solid"/>
          </a:ln>
        </p:spPr>
      </p:sp>
      <p:sp>
        <p:nvSpPr>
          <p:cNvPr id="23" name="Shape 21"/>
          <p:cNvSpPr/>
          <p:nvPr/>
        </p:nvSpPr>
        <p:spPr>
          <a:xfrm>
            <a:off x="8147304" y="4023360"/>
            <a:ext cx="64008" cy="64008"/>
          </a:xfrm>
          <a:prstGeom prst="ellipse">
            <a:avLst/>
          </a:prstGeom>
          <a:solidFill>
            <a:srgbClr val="1E4060">
              <a:alpha val="60000"/>
            </a:srgbClr>
          </a:solidFill>
          <a:ln w="12700">
            <a:solidFill>
              <a:srgbClr val="1E4060"/>
            </a:solidFill>
            <a:prstDash val="solid"/>
          </a:ln>
        </p:spPr>
      </p:sp>
      <p:sp>
        <p:nvSpPr>
          <p:cNvPr id="24" name="Shape 22"/>
          <p:cNvSpPr/>
          <p:nvPr/>
        </p:nvSpPr>
        <p:spPr>
          <a:xfrm>
            <a:off x="502920" y="914400"/>
            <a:ext cx="3474720" cy="347472"/>
          </a:xfrm>
          <a:prstGeom prst="rect">
            <a:avLst/>
          </a:prstGeom>
          <a:solidFill>
            <a:srgbClr val="0E7C7B"/>
          </a:solidFill>
          <a:ln w="12700">
            <a:solidFill>
              <a:srgbClr val="0E7C7B"/>
            </a:solidFill>
            <a:prstDash val="solid"/>
          </a:ln>
        </p:spPr>
      </p:sp>
      <p:sp>
        <p:nvSpPr>
          <p:cNvPr id="25" name="Text 23"/>
          <p:cNvSpPr/>
          <p:nvPr/>
        </p:nvSpPr>
        <p:spPr>
          <a:xfrm>
            <a:off x="566928" y="950976"/>
            <a:ext cx="333756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Machine Learning · Burnout Prediction · 2026</a:t>
            </a:r>
            <a:endParaRPr lang="en-US" sz="1000" dirty="0"/>
          </a:p>
        </p:txBody>
      </p:sp>
      <p:sp>
        <p:nvSpPr>
          <p:cNvPr id="26" name="Text 24"/>
          <p:cNvSpPr/>
          <p:nvPr/>
        </p:nvSpPr>
        <p:spPr>
          <a:xfrm>
            <a:off x="502920" y="1417320"/>
            <a:ext cx="5486400" cy="155448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Predicting Remote</a:t>
            </a:r>
            <a:endParaRPr lang="en-US" sz="4600" dirty="0"/>
          </a:p>
          <a:p>
            <a:pPr marL="0" indent="0">
              <a:buNone/>
            </a:pPr>
            <a:r>
              <a:rPr lang="en-US" sz="4600" b="1" dirty="0">
                <a:solidFill>
                  <a:srgbClr val="FFFFFF"/>
                </a:solidFill>
                <a:latin typeface="Calibri" pitchFamily="34" charset="0"/>
                <a:ea typeface="Calibri" pitchFamily="34" charset="-122"/>
                <a:cs typeface="Calibri" pitchFamily="34" charset="-120"/>
              </a:rPr>
              <a:t>Work Burnout</a:t>
            </a:r>
            <a:endParaRPr lang="en-US" sz="4600" dirty="0"/>
          </a:p>
        </p:txBody>
      </p:sp>
      <p:sp>
        <p:nvSpPr>
          <p:cNvPr id="27" name="Text 25"/>
          <p:cNvSpPr/>
          <p:nvPr/>
        </p:nvSpPr>
        <p:spPr>
          <a:xfrm>
            <a:off x="502920" y="3017520"/>
            <a:ext cx="5486400" cy="457200"/>
          </a:xfrm>
          <a:prstGeom prst="rect">
            <a:avLst/>
          </a:prstGeom>
          <a:noFill/>
          <a:ln/>
        </p:spPr>
        <p:txBody>
          <a:bodyPr wrap="square" rtlCol="0" anchor="ctr"/>
          <a:lstStyle/>
          <a:p>
            <a:pPr marL="0" indent="0">
              <a:buNone/>
            </a:pPr>
            <a:r>
              <a:rPr lang="en-US" sz="1500" i="1" dirty="0">
                <a:solidFill>
                  <a:srgbClr val="14A5A4"/>
                </a:solidFill>
                <a:latin typeface="Calibri" pitchFamily="34" charset="0"/>
                <a:ea typeface="Calibri" pitchFamily="34" charset="-122"/>
                <a:cs typeface="Calibri" pitchFamily="34" charset="-120"/>
              </a:rPr>
              <a:t>Using Machine Learning to Flag At-Risk Employees Early</a:t>
            </a:r>
            <a:endParaRPr lang="en-US" sz="1500" dirty="0"/>
          </a:p>
        </p:txBody>
      </p:sp>
      <p:sp>
        <p:nvSpPr>
          <p:cNvPr id="28" name="Shape 26"/>
          <p:cNvSpPr/>
          <p:nvPr/>
        </p:nvSpPr>
        <p:spPr>
          <a:xfrm>
            <a:off x="502920" y="3566160"/>
            <a:ext cx="5486400" cy="0"/>
          </a:xfrm>
          <a:prstGeom prst="line">
            <a:avLst/>
          </a:prstGeom>
          <a:noFill/>
          <a:ln w="12700">
            <a:solidFill>
              <a:srgbClr val="2E4D6E"/>
            </a:solidFill>
            <a:prstDash val="solid"/>
          </a:ln>
        </p:spPr>
      </p:sp>
      <p:sp>
        <p:nvSpPr>
          <p:cNvPr id="29" name="Text 27"/>
          <p:cNvSpPr/>
          <p:nvPr/>
        </p:nvSpPr>
        <p:spPr>
          <a:xfrm>
            <a:off x="502920" y="3730752"/>
            <a:ext cx="5486400" cy="3657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Eman Sarhan  ·  Yasmeen Nofal  ·  Joud Hijaz  ·  Nada Tabib  ·  Maymona Khanfar</a:t>
            </a:r>
            <a:endParaRPr lang="en-US" sz="1100" dirty="0"/>
          </a:p>
        </p:txBody>
      </p:sp>
      <p:sp>
        <p:nvSpPr>
          <p:cNvPr id="30" name="Text 28"/>
          <p:cNvSpPr/>
          <p:nvPr/>
        </p:nvSpPr>
        <p:spPr>
          <a:xfrm>
            <a:off x="502920" y="4114800"/>
            <a:ext cx="5486400" cy="320040"/>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IBT × GGateway  |  Data Science &amp; ML Bootcamp</a:t>
            </a:r>
            <a:endParaRPr lang="en-US" sz="1000" dirty="0"/>
          </a:p>
        </p:txBody>
      </p:sp>
      <p:sp>
        <p:nvSpPr>
          <p:cNvPr id="31" name="TextBox 30"/>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 / 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The Problem</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960120"/>
            <a:ext cx="2377440" cy="118872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Shape 3"/>
          <p:cNvSpPr/>
          <p:nvPr/>
        </p:nvSpPr>
        <p:spPr>
          <a:xfrm>
            <a:off x="457200" y="960120"/>
            <a:ext cx="64008" cy="1188720"/>
          </a:xfrm>
          <a:prstGeom prst="rect">
            <a:avLst/>
          </a:prstGeom>
          <a:solidFill>
            <a:srgbClr val="0E7C7B"/>
          </a:solidFill>
          <a:ln w="12700">
            <a:solidFill>
              <a:srgbClr val="0E7C7B"/>
            </a:solidFill>
            <a:prstDash val="solid"/>
          </a:ln>
        </p:spPr>
      </p:sp>
      <p:sp>
        <p:nvSpPr>
          <p:cNvPr id="6" name="Text 4"/>
          <p:cNvSpPr/>
          <p:nvPr/>
        </p:nvSpPr>
        <p:spPr>
          <a:xfrm>
            <a:off x="594360" y="1051560"/>
            <a:ext cx="2194560" cy="640080"/>
          </a:xfrm>
          <a:prstGeom prst="rect">
            <a:avLst/>
          </a:prstGeom>
          <a:noFill/>
          <a:ln/>
        </p:spPr>
        <p:txBody>
          <a:bodyPr wrap="square" rtlCol="0" anchor="ctr"/>
          <a:lstStyle/>
          <a:p>
            <a:pPr marL="0" indent="0">
              <a:buNone/>
            </a:pPr>
            <a:r>
              <a:rPr lang="en-US" sz="3200" b="1" dirty="0">
                <a:solidFill>
                  <a:srgbClr val="1A2B4A"/>
                </a:solidFill>
                <a:latin typeface="Calibri" pitchFamily="34" charset="0"/>
                <a:ea typeface="Calibri" pitchFamily="34" charset="-122"/>
                <a:cs typeface="Calibri" pitchFamily="34" charset="-120"/>
              </a:rPr>
              <a:t>12 hrs</a:t>
            </a:r>
            <a:endParaRPr lang="en-US" sz="3200" dirty="0"/>
          </a:p>
        </p:txBody>
      </p:sp>
      <p:sp>
        <p:nvSpPr>
          <p:cNvPr id="7" name="Text 5"/>
          <p:cNvSpPr/>
          <p:nvPr/>
        </p:nvSpPr>
        <p:spPr>
          <a:xfrm>
            <a:off x="594360" y="1645920"/>
            <a:ext cx="21945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Avg work/day</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for High-Risk employees</a:t>
            </a:r>
            <a:endParaRPr lang="en-US" sz="950" dirty="0"/>
          </a:p>
        </p:txBody>
      </p:sp>
      <p:sp>
        <p:nvSpPr>
          <p:cNvPr id="8" name="Shape 6"/>
          <p:cNvSpPr/>
          <p:nvPr/>
        </p:nvSpPr>
        <p:spPr>
          <a:xfrm>
            <a:off x="3108960" y="960120"/>
            <a:ext cx="2377440" cy="118872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9" name="Shape 7"/>
          <p:cNvSpPr/>
          <p:nvPr/>
        </p:nvSpPr>
        <p:spPr>
          <a:xfrm>
            <a:off x="3108960" y="960120"/>
            <a:ext cx="64008" cy="1188720"/>
          </a:xfrm>
          <a:prstGeom prst="rect">
            <a:avLst/>
          </a:prstGeom>
          <a:solidFill>
            <a:srgbClr val="0E7C7B"/>
          </a:solidFill>
          <a:ln w="12700">
            <a:solidFill>
              <a:srgbClr val="0E7C7B"/>
            </a:solidFill>
            <a:prstDash val="solid"/>
          </a:ln>
        </p:spPr>
      </p:sp>
      <p:sp>
        <p:nvSpPr>
          <p:cNvPr id="10" name="Text 8"/>
          <p:cNvSpPr/>
          <p:nvPr/>
        </p:nvSpPr>
        <p:spPr>
          <a:xfrm>
            <a:off x="3246120" y="1051560"/>
            <a:ext cx="2194560" cy="640080"/>
          </a:xfrm>
          <a:prstGeom prst="rect">
            <a:avLst/>
          </a:prstGeom>
          <a:noFill/>
          <a:ln/>
        </p:spPr>
        <p:txBody>
          <a:bodyPr wrap="square" rtlCol="0" anchor="ctr"/>
          <a:lstStyle/>
          <a:p>
            <a:pPr marL="0" indent="0">
              <a:buNone/>
            </a:pPr>
            <a:r>
              <a:rPr lang="en-US" sz="3200" b="1" dirty="0">
                <a:solidFill>
                  <a:srgbClr val="1A2B4A"/>
                </a:solidFill>
                <a:latin typeface="Calibri" pitchFamily="34" charset="0"/>
                <a:ea typeface="Calibri" pitchFamily="34" charset="-122"/>
                <a:cs typeface="Calibri" pitchFamily="34" charset="-120"/>
              </a:rPr>
              <a:t>9.9/10</a:t>
            </a:r>
            <a:endParaRPr lang="en-US" sz="3200" dirty="0"/>
          </a:p>
        </p:txBody>
      </p:sp>
      <p:sp>
        <p:nvSpPr>
          <p:cNvPr id="11" name="Text 9"/>
          <p:cNvSpPr/>
          <p:nvPr/>
        </p:nvSpPr>
        <p:spPr>
          <a:xfrm>
            <a:off x="3246120" y="1645920"/>
            <a:ext cx="21945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Peak self-reported</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fatigue score</a:t>
            </a:r>
            <a:endParaRPr lang="en-US" sz="950" dirty="0"/>
          </a:p>
        </p:txBody>
      </p:sp>
      <p:sp>
        <p:nvSpPr>
          <p:cNvPr id="12" name="Shape 10"/>
          <p:cNvSpPr/>
          <p:nvPr/>
        </p:nvSpPr>
        <p:spPr>
          <a:xfrm>
            <a:off x="5760720" y="960120"/>
            <a:ext cx="2377440" cy="118872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3" name="Shape 11"/>
          <p:cNvSpPr/>
          <p:nvPr/>
        </p:nvSpPr>
        <p:spPr>
          <a:xfrm>
            <a:off x="5760720" y="960120"/>
            <a:ext cx="64008" cy="1188720"/>
          </a:xfrm>
          <a:prstGeom prst="rect">
            <a:avLst/>
          </a:prstGeom>
          <a:solidFill>
            <a:srgbClr val="0E7C7B"/>
          </a:solidFill>
          <a:ln w="12700">
            <a:solidFill>
              <a:srgbClr val="0E7C7B"/>
            </a:solidFill>
            <a:prstDash val="solid"/>
          </a:ln>
        </p:spPr>
      </p:sp>
      <p:sp>
        <p:nvSpPr>
          <p:cNvPr id="14" name="Text 12"/>
          <p:cNvSpPr/>
          <p:nvPr/>
        </p:nvSpPr>
        <p:spPr>
          <a:xfrm>
            <a:off x="5897880" y="1051560"/>
            <a:ext cx="2194560" cy="640080"/>
          </a:xfrm>
          <a:prstGeom prst="rect">
            <a:avLst/>
          </a:prstGeom>
          <a:noFill/>
          <a:ln/>
        </p:spPr>
        <p:txBody>
          <a:bodyPr wrap="square" rtlCol="0" anchor="ctr"/>
          <a:lstStyle/>
          <a:p>
            <a:pPr marL="0" indent="0">
              <a:buNone/>
            </a:pPr>
            <a:r>
              <a:rPr lang="en-US" sz="3200" b="1" dirty="0">
                <a:solidFill>
                  <a:srgbClr val="1A2B4A"/>
                </a:solidFill>
                <a:latin typeface="Calibri" pitchFamily="34" charset="0"/>
                <a:ea typeface="Calibri" pitchFamily="34" charset="-122"/>
                <a:cs typeface="Calibri" pitchFamily="34" charset="-120"/>
              </a:rPr>
              <a:t>5 hrs</a:t>
            </a:r>
            <a:endParaRPr lang="en-US" sz="3200" dirty="0"/>
          </a:p>
        </p:txBody>
      </p:sp>
      <p:sp>
        <p:nvSpPr>
          <p:cNvPr id="15" name="Text 13"/>
          <p:cNvSpPr/>
          <p:nvPr/>
        </p:nvSpPr>
        <p:spPr>
          <a:xfrm>
            <a:off x="5897880" y="1645920"/>
            <a:ext cx="21945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Avg sleep at</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highest burnout</a:t>
            </a:r>
            <a:endParaRPr lang="en-US" sz="950" dirty="0"/>
          </a:p>
        </p:txBody>
      </p:sp>
      <p:sp>
        <p:nvSpPr>
          <p:cNvPr id="16" name="Shape 14"/>
          <p:cNvSpPr/>
          <p:nvPr/>
        </p:nvSpPr>
        <p:spPr>
          <a:xfrm>
            <a:off x="457200" y="2450592"/>
            <a:ext cx="3931920" cy="230428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7" name="Text 15"/>
          <p:cNvSpPr/>
          <p:nvPr/>
        </p:nvSpPr>
        <p:spPr>
          <a:xfrm>
            <a:off x="594360" y="2542032"/>
            <a:ext cx="3657600" cy="292608"/>
          </a:xfrm>
          <a:prstGeom prst="rect">
            <a:avLst/>
          </a:prstGeom>
          <a:noFill/>
          <a:ln/>
        </p:spPr>
        <p:txBody>
          <a:bodyPr wrap="square" rtlCol="0" anchor="ctr"/>
          <a:lstStyle/>
          <a:p>
            <a:pPr marL="0" indent="0">
              <a:buNone/>
            </a:pPr>
            <a:r>
              <a:rPr lang="en-US" sz="1200" b="1" dirty="0">
                <a:solidFill>
                  <a:srgbClr val="0E7C7B"/>
                </a:solidFill>
                <a:latin typeface="Calibri" pitchFamily="34" charset="0"/>
                <a:ea typeface="Calibri" pitchFamily="34" charset="-122"/>
                <a:cs typeface="Calibri" pitchFamily="34" charset="-120"/>
              </a:rPr>
              <a:t>Root Causes</a:t>
            </a:r>
            <a:endParaRPr lang="en-US" sz="1200" dirty="0"/>
          </a:p>
        </p:txBody>
      </p:sp>
      <p:sp>
        <p:nvSpPr>
          <p:cNvPr id="18" name="Text 16"/>
          <p:cNvSpPr/>
          <p:nvPr/>
        </p:nvSpPr>
        <p:spPr>
          <a:xfrm>
            <a:off x="594360" y="2880360"/>
            <a:ext cx="3657600" cy="1691640"/>
          </a:xfrm>
          <a:prstGeom prst="rect">
            <a:avLst/>
          </a:prstGeom>
          <a:noFill/>
          <a:ln/>
        </p:spPr>
        <p:txBody>
          <a:bodyPr wrap="square"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Remote work erases work-life boundaries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No face-to-face interaction deepens isolation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Prolonged stress leads to emotional exhaustion</a:t>
            </a:r>
            <a:endParaRPr lang="en-US" sz="1100" dirty="0"/>
          </a:p>
        </p:txBody>
      </p:sp>
      <p:sp>
        <p:nvSpPr>
          <p:cNvPr id="19" name="Shape 17"/>
          <p:cNvSpPr/>
          <p:nvPr/>
        </p:nvSpPr>
        <p:spPr>
          <a:xfrm>
            <a:off x="4663440" y="2450592"/>
            <a:ext cx="3931920" cy="230428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0" name="Text 18"/>
          <p:cNvSpPr/>
          <p:nvPr/>
        </p:nvSpPr>
        <p:spPr>
          <a:xfrm>
            <a:off x="4800600" y="2542032"/>
            <a:ext cx="3657600" cy="292608"/>
          </a:xfrm>
          <a:prstGeom prst="rect">
            <a:avLst/>
          </a:prstGeom>
          <a:noFill/>
          <a:ln/>
        </p:spPr>
        <p:txBody>
          <a:bodyPr wrap="square"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Business Impact</a:t>
            </a:r>
            <a:endParaRPr lang="en-US" sz="1200" dirty="0"/>
          </a:p>
        </p:txBody>
      </p:sp>
      <p:sp>
        <p:nvSpPr>
          <p:cNvPr id="21" name="Text 19"/>
          <p:cNvSpPr/>
          <p:nvPr/>
        </p:nvSpPr>
        <p:spPr>
          <a:xfrm>
            <a:off x="4800600" y="2880360"/>
            <a:ext cx="3657600" cy="1691640"/>
          </a:xfrm>
          <a:prstGeom prst="rect">
            <a:avLst/>
          </a:prstGeom>
          <a:noFill/>
          <a:ln/>
        </p:spPr>
        <p:txBody>
          <a:bodyPr wrap="square"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Companies detect burnout only after damage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Higher turnover and recruitment costs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Reduced productivity and rising absenteeism</a:t>
            </a:r>
            <a:endParaRPr lang="en-US" sz="1100" dirty="0"/>
          </a:p>
        </p:txBody>
      </p:sp>
      <p:sp>
        <p:nvSpPr>
          <p:cNvPr id="22" name="TextBox 21"/>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2 / 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Project Goal &amp; Target Variable</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960120"/>
            <a:ext cx="8229600" cy="1005840"/>
          </a:xfrm>
          <a:prstGeom prst="rect">
            <a:avLst/>
          </a:prstGeom>
          <a:solidFill>
            <a:srgbClr val="1A2B4A"/>
          </a:solidFill>
          <a:ln w="12700">
            <a:solidFill>
              <a:srgbClr val="1A2B4A"/>
            </a:solidFill>
            <a:prstDash val="solid"/>
          </a:ln>
        </p:spPr>
      </p:sp>
      <p:sp>
        <p:nvSpPr>
          <p:cNvPr id="5" name="Text 3"/>
          <p:cNvSpPr/>
          <p:nvPr/>
        </p:nvSpPr>
        <p:spPr>
          <a:xfrm>
            <a:off x="548640" y="1024128"/>
            <a:ext cx="80467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  Predict each employee's burnout risk: Low, Medium, or High</a:t>
            </a:r>
            <a:endParaRPr lang="en-US" sz="1800" dirty="0"/>
          </a:p>
        </p:txBody>
      </p:sp>
      <p:sp>
        <p:nvSpPr>
          <p:cNvPr id="6" name="Shape 4"/>
          <p:cNvSpPr/>
          <p:nvPr/>
        </p:nvSpPr>
        <p:spPr>
          <a:xfrm>
            <a:off x="457200" y="2148840"/>
            <a:ext cx="2606040" cy="26060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7" name="Shape 5"/>
          <p:cNvSpPr/>
          <p:nvPr/>
        </p:nvSpPr>
        <p:spPr>
          <a:xfrm>
            <a:off x="457200" y="2148840"/>
            <a:ext cx="2606040" cy="109728"/>
          </a:xfrm>
          <a:prstGeom prst="rect">
            <a:avLst/>
          </a:prstGeom>
          <a:solidFill>
            <a:srgbClr val="16A34A"/>
          </a:solidFill>
          <a:ln w="12700">
            <a:solidFill>
              <a:srgbClr val="16A34A"/>
            </a:solidFill>
            <a:prstDash val="solid"/>
          </a:ln>
        </p:spPr>
      </p:sp>
      <p:sp>
        <p:nvSpPr>
          <p:cNvPr id="8" name="Text 6"/>
          <p:cNvSpPr/>
          <p:nvPr/>
        </p:nvSpPr>
        <p:spPr>
          <a:xfrm>
            <a:off x="457200" y="2313432"/>
            <a:ext cx="2606040" cy="777240"/>
          </a:xfrm>
          <a:prstGeom prst="rect">
            <a:avLst/>
          </a:prstGeom>
          <a:noFill/>
          <a:ln/>
        </p:spPr>
        <p:txBody>
          <a:bodyPr wrap="square" rtlCol="0" anchor="ctr"/>
          <a:lstStyle/>
          <a:p>
            <a:pPr marL="0" indent="0" algn="ctr">
              <a:buNone/>
            </a:pPr>
            <a:r>
              <a:rPr lang="en-US" sz="4200" b="1" dirty="0">
                <a:solidFill>
                  <a:srgbClr val="16A34A"/>
                </a:solidFill>
                <a:latin typeface="Calibri" pitchFamily="34" charset="0"/>
                <a:ea typeface="Calibri" pitchFamily="34" charset="-122"/>
                <a:cs typeface="Calibri" pitchFamily="34" charset="-120"/>
              </a:rPr>
              <a:t>51%</a:t>
            </a:r>
            <a:endParaRPr lang="en-US" sz="4200" dirty="0"/>
          </a:p>
        </p:txBody>
      </p:sp>
      <p:sp>
        <p:nvSpPr>
          <p:cNvPr id="9" name="Text 7"/>
          <p:cNvSpPr/>
          <p:nvPr/>
        </p:nvSpPr>
        <p:spPr>
          <a:xfrm>
            <a:off x="457200" y="3090672"/>
            <a:ext cx="2606040" cy="347472"/>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Low Risk</a:t>
            </a:r>
            <a:endParaRPr lang="en-US" sz="1400" dirty="0"/>
          </a:p>
        </p:txBody>
      </p:sp>
      <p:sp>
        <p:nvSpPr>
          <p:cNvPr id="10" name="Text 8"/>
          <p:cNvSpPr/>
          <p:nvPr/>
        </p:nvSpPr>
        <p:spPr>
          <a:xfrm>
            <a:off x="457200" y="3438144"/>
            <a:ext cx="2606040" cy="292608"/>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1,019 employees</a:t>
            </a:r>
            <a:endParaRPr lang="en-US" sz="1100" dirty="0"/>
          </a:p>
        </p:txBody>
      </p:sp>
      <p:sp>
        <p:nvSpPr>
          <p:cNvPr id="11" name="Shape 9"/>
          <p:cNvSpPr/>
          <p:nvPr/>
        </p:nvSpPr>
        <p:spPr>
          <a:xfrm>
            <a:off x="685800" y="3822192"/>
            <a:ext cx="2148840" cy="164592"/>
          </a:xfrm>
          <a:prstGeom prst="rect">
            <a:avLst/>
          </a:prstGeom>
          <a:solidFill>
            <a:srgbClr val="E2E8F0"/>
          </a:solidFill>
          <a:ln w="12700">
            <a:solidFill>
              <a:srgbClr val="E2E8F0"/>
            </a:solidFill>
            <a:prstDash val="solid"/>
          </a:ln>
        </p:spPr>
      </p:sp>
      <p:sp>
        <p:nvSpPr>
          <p:cNvPr id="12" name="Shape 10"/>
          <p:cNvSpPr/>
          <p:nvPr/>
        </p:nvSpPr>
        <p:spPr>
          <a:xfrm>
            <a:off x="685800" y="3822192"/>
            <a:ext cx="2148840" cy="164592"/>
          </a:xfrm>
          <a:prstGeom prst="rect">
            <a:avLst/>
          </a:prstGeom>
          <a:solidFill>
            <a:srgbClr val="16A34A"/>
          </a:solidFill>
          <a:ln w="12700">
            <a:solidFill>
              <a:srgbClr val="16A34A"/>
            </a:solidFill>
            <a:prstDash val="solid"/>
          </a:ln>
        </p:spPr>
      </p:sp>
      <p:sp>
        <p:nvSpPr>
          <p:cNvPr id="13" name="Text 11"/>
          <p:cNvSpPr/>
          <p:nvPr/>
        </p:nvSpPr>
        <p:spPr>
          <a:xfrm>
            <a:off x="457200" y="4041648"/>
            <a:ext cx="2606040" cy="237744"/>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of dataset</a:t>
            </a:r>
            <a:endParaRPr lang="en-US" sz="900" dirty="0"/>
          </a:p>
        </p:txBody>
      </p:sp>
      <p:sp>
        <p:nvSpPr>
          <p:cNvPr id="14" name="Shape 12"/>
          <p:cNvSpPr/>
          <p:nvPr/>
        </p:nvSpPr>
        <p:spPr>
          <a:xfrm>
            <a:off x="3291840" y="2148840"/>
            <a:ext cx="2606040" cy="26060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5" name="Shape 13"/>
          <p:cNvSpPr/>
          <p:nvPr/>
        </p:nvSpPr>
        <p:spPr>
          <a:xfrm>
            <a:off x="3291840" y="2148840"/>
            <a:ext cx="2606040" cy="109728"/>
          </a:xfrm>
          <a:prstGeom prst="rect">
            <a:avLst/>
          </a:prstGeom>
          <a:solidFill>
            <a:srgbClr val="F59E0B"/>
          </a:solidFill>
          <a:ln w="12700">
            <a:solidFill>
              <a:srgbClr val="F59E0B"/>
            </a:solidFill>
            <a:prstDash val="solid"/>
          </a:ln>
        </p:spPr>
      </p:sp>
      <p:sp>
        <p:nvSpPr>
          <p:cNvPr id="16" name="Text 14"/>
          <p:cNvSpPr/>
          <p:nvPr/>
        </p:nvSpPr>
        <p:spPr>
          <a:xfrm>
            <a:off x="3291840" y="2313432"/>
            <a:ext cx="2606040" cy="777240"/>
          </a:xfrm>
          <a:prstGeom prst="rect">
            <a:avLst/>
          </a:prstGeom>
          <a:noFill/>
          <a:ln/>
        </p:spPr>
        <p:txBody>
          <a:bodyPr wrap="square" rtlCol="0" anchor="ctr"/>
          <a:lstStyle/>
          <a:p>
            <a:pPr marL="0" indent="0" algn="ctr">
              <a:buNone/>
            </a:pPr>
            <a:r>
              <a:rPr lang="en-US" sz="4200" b="1" dirty="0">
                <a:solidFill>
                  <a:srgbClr val="F59E0B"/>
                </a:solidFill>
                <a:latin typeface="Calibri" pitchFamily="34" charset="0"/>
                <a:ea typeface="Calibri" pitchFamily="34" charset="-122"/>
                <a:cs typeface="Calibri" pitchFamily="34" charset="-120"/>
              </a:rPr>
              <a:t>42%</a:t>
            </a:r>
            <a:endParaRPr lang="en-US" sz="4200" dirty="0"/>
          </a:p>
        </p:txBody>
      </p:sp>
      <p:sp>
        <p:nvSpPr>
          <p:cNvPr id="17" name="Text 15"/>
          <p:cNvSpPr/>
          <p:nvPr/>
        </p:nvSpPr>
        <p:spPr>
          <a:xfrm>
            <a:off x="3291840" y="3090672"/>
            <a:ext cx="2606040" cy="347472"/>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Medium Risk</a:t>
            </a:r>
            <a:endParaRPr lang="en-US" sz="1400" dirty="0"/>
          </a:p>
        </p:txBody>
      </p:sp>
      <p:sp>
        <p:nvSpPr>
          <p:cNvPr id="18" name="Text 16"/>
          <p:cNvSpPr/>
          <p:nvPr/>
        </p:nvSpPr>
        <p:spPr>
          <a:xfrm>
            <a:off x="3291840" y="3438144"/>
            <a:ext cx="2606040" cy="292608"/>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843 employees</a:t>
            </a:r>
            <a:endParaRPr lang="en-US" sz="1100" dirty="0"/>
          </a:p>
        </p:txBody>
      </p:sp>
      <p:sp>
        <p:nvSpPr>
          <p:cNvPr id="19" name="Shape 17"/>
          <p:cNvSpPr/>
          <p:nvPr/>
        </p:nvSpPr>
        <p:spPr>
          <a:xfrm>
            <a:off x="3520440" y="3822192"/>
            <a:ext cx="2148840" cy="164592"/>
          </a:xfrm>
          <a:prstGeom prst="rect">
            <a:avLst/>
          </a:prstGeom>
          <a:solidFill>
            <a:srgbClr val="E2E8F0"/>
          </a:solidFill>
          <a:ln w="12700">
            <a:solidFill>
              <a:srgbClr val="E2E8F0"/>
            </a:solidFill>
            <a:prstDash val="solid"/>
          </a:ln>
        </p:spPr>
      </p:sp>
      <p:sp>
        <p:nvSpPr>
          <p:cNvPr id="20" name="Shape 18"/>
          <p:cNvSpPr/>
          <p:nvPr/>
        </p:nvSpPr>
        <p:spPr>
          <a:xfrm>
            <a:off x="3520440" y="3822192"/>
            <a:ext cx="1764792" cy="164592"/>
          </a:xfrm>
          <a:prstGeom prst="rect">
            <a:avLst/>
          </a:prstGeom>
          <a:solidFill>
            <a:srgbClr val="F59E0B"/>
          </a:solidFill>
          <a:ln w="12700">
            <a:solidFill>
              <a:srgbClr val="F59E0B"/>
            </a:solidFill>
            <a:prstDash val="solid"/>
          </a:ln>
        </p:spPr>
      </p:sp>
      <p:sp>
        <p:nvSpPr>
          <p:cNvPr id="21" name="Text 19"/>
          <p:cNvSpPr/>
          <p:nvPr/>
        </p:nvSpPr>
        <p:spPr>
          <a:xfrm>
            <a:off x="3291840" y="4041648"/>
            <a:ext cx="2606040" cy="237744"/>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of dataset</a:t>
            </a:r>
            <a:endParaRPr lang="en-US" sz="900" dirty="0"/>
          </a:p>
        </p:txBody>
      </p:sp>
      <p:sp>
        <p:nvSpPr>
          <p:cNvPr id="22" name="Shape 20"/>
          <p:cNvSpPr/>
          <p:nvPr/>
        </p:nvSpPr>
        <p:spPr>
          <a:xfrm>
            <a:off x="6126480" y="2148840"/>
            <a:ext cx="2606040" cy="26060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3" name="Shape 21"/>
          <p:cNvSpPr/>
          <p:nvPr/>
        </p:nvSpPr>
        <p:spPr>
          <a:xfrm>
            <a:off x="6126480" y="2148840"/>
            <a:ext cx="2606040" cy="109728"/>
          </a:xfrm>
          <a:prstGeom prst="rect">
            <a:avLst/>
          </a:prstGeom>
          <a:solidFill>
            <a:srgbClr val="DC2626"/>
          </a:solidFill>
          <a:ln w="12700">
            <a:solidFill>
              <a:srgbClr val="DC2626"/>
            </a:solidFill>
            <a:prstDash val="solid"/>
          </a:ln>
        </p:spPr>
      </p:sp>
      <p:sp>
        <p:nvSpPr>
          <p:cNvPr id="24" name="Text 22"/>
          <p:cNvSpPr/>
          <p:nvPr/>
        </p:nvSpPr>
        <p:spPr>
          <a:xfrm>
            <a:off x="6126480" y="2313432"/>
            <a:ext cx="2606040" cy="777240"/>
          </a:xfrm>
          <a:prstGeom prst="rect">
            <a:avLst/>
          </a:prstGeom>
          <a:noFill/>
          <a:ln/>
        </p:spPr>
        <p:txBody>
          <a:bodyPr wrap="square" rtlCol="0" anchor="ctr"/>
          <a:lstStyle/>
          <a:p>
            <a:pPr marL="0" indent="0" algn="ctr">
              <a:buNone/>
            </a:pPr>
            <a:r>
              <a:rPr lang="en-US" sz="4200" b="1" dirty="0">
                <a:solidFill>
                  <a:srgbClr val="DC2626"/>
                </a:solidFill>
                <a:latin typeface="Calibri" pitchFamily="34" charset="0"/>
                <a:ea typeface="Calibri" pitchFamily="34" charset="-122"/>
                <a:cs typeface="Calibri" pitchFamily="34" charset="-120"/>
              </a:rPr>
              <a:t>7%</a:t>
            </a:r>
            <a:endParaRPr lang="en-US" sz="4200" dirty="0"/>
          </a:p>
        </p:txBody>
      </p:sp>
      <p:sp>
        <p:nvSpPr>
          <p:cNvPr id="25" name="Text 23"/>
          <p:cNvSpPr/>
          <p:nvPr/>
        </p:nvSpPr>
        <p:spPr>
          <a:xfrm>
            <a:off x="6126480" y="3090672"/>
            <a:ext cx="2606040" cy="347472"/>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High Risk</a:t>
            </a:r>
            <a:endParaRPr lang="en-US" sz="1400" dirty="0"/>
          </a:p>
        </p:txBody>
      </p:sp>
      <p:sp>
        <p:nvSpPr>
          <p:cNvPr id="26" name="Text 24"/>
          <p:cNvSpPr/>
          <p:nvPr/>
        </p:nvSpPr>
        <p:spPr>
          <a:xfrm>
            <a:off x="6126480" y="3438144"/>
            <a:ext cx="2606040" cy="292608"/>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138 employees</a:t>
            </a:r>
            <a:endParaRPr lang="en-US" sz="1100" dirty="0"/>
          </a:p>
        </p:txBody>
      </p:sp>
      <p:sp>
        <p:nvSpPr>
          <p:cNvPr id="27" name="Shape 25"/>
          <p:cNvSpPr/>
          <p:nvPr/>
        </p:nvSpPr>
        <p:spPr>
          <a:xfrm>
            <a:off x="6355080" y="3822192"/>
            <a:ext cx="2148840" cy="164592"/>
          </a:xfrm>
          <a:prstGeom prst="rect">
            <a:avLst/>
          </a:prstGeom>
          <a:solidFill>
            <a:srgbClr val="E2E8F0"/>
          </a:solidFill>
          <a:ln w="12700">
            <a:solidFill>
              <a:srgbClr val="E2E8F0"/>
            </a:solidFill>
            <a:prstDash val="solid"/>
          </a:ln>
        </p:spPr>
      </p:sp>
      <p:sp>
        <p:nvSpPr>
          <p:cNvPr id="28" name="Shape 26"/>
          <p:cNvSpPr/>
          <p:nvPr/>
        </p:nvSpPr>
        <p:spPr>
          <a:xfrm>
            <a:off x="6355080" y="3822192"/>
            <a:ext cx="292608" cy="164592"/>
          </a:xfrm>
          <a:prstGeom prst="rect">
            <a:avLst/>
          </a:prstGeom>
          <a:solidFill>
            <a:srgbClr val="DC2626"/>
          </a:solidFill>
          <a:ln w="12700">
            <a:solidFill>
              <a:srgbClr val="DC2626"/>
            </a:solidFill>
            <a:prstDash val="solid"/>
          </a:ln>
        </p:spPr>
      </p:sp>
      <p:sp>
        <p:nvSpPr>
          <p:cNvPr id="29" name="Text 27"/>
          <p:cNvSpPr/>
          <p:nvPr/>
        </p:nvSpPr>
        <p:spPr>
          <a:xfrm>
            <a:off x="6126480" y="4041648"/>
            <a:ext cx="2606040" cy="237744"/>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of dataset</a:t>
            </a:r>
            <a:endParaRPr lang="en-US" sz="900" dirty="0"/>
          </a:p>
        </p:txBody>
      </p:sp>
      <p:sp>
        <p:nvSpPr>
          <p:cNvPr id="30" name="TextBox 29"/>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3 / 15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Data Source &amp; Features</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960120"/>
            <a:ext cx="3474720" cy="37947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Text 3"/>
          <p:cNvSpPr/>
          <p:nvPr/>
        </p:nvSpPr>
        <p:spPr>
          <a:xfrm>
            <a:off x="594360" y="1051560"/>
            <a:ext cx="3200400" cy="347472"/>
          </a:xfrm>
          <a:prstGeom prst="rect">
            <a:avLst/>
          </a:prstGeom>
          <a:noFill/>
          <a:ln/>
        </p:spPr>
        <p:txBody>
          <a:bodyPr wrap="square"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Dataset Overview</a:t>
            </a:r>
            <a:endParaRPr lang="en-US" sz="1300" dirty="0"/>
          </a:p>
        </p:txBody>
      </p:sp>
      <p:sp>
        <p:nvSpPr>
          <p:cNvPr id="6" name="Shape 4"/>
          <p:cNvSpPr/>
          <p:nvPr/>
        </p:nvSpPr>
        <p:spPr>
          <a:xfrm>
            <a:off x="566928" y="1554480"/>
            <a:ext cx="45720" cy="320040"/>
          </a:xfrm>
          <a:prstGeom prst="rect">
            <a:avLst/>
          </a:prstGeom>
          <a:solidFill>
            <a:srgbClr val="0E7C7B"/>
          </a:solidFill>
          <a:ln w="12700">
            <a:solidFill>
              <a:srgbClr val="0E7C7B"/>
            </a:solidFill>
            <a:prstDash val="solid"/>
          </a:ln>
        </p:spPr>
      </p:sp>
      <p:sp>
        <p:nvSpPr>
          <p:cNvPr id="7" name="Text 5"/>
          <p:cNvSpPr/>
          <p:nvPr/>
        </p:nvSpPr>
        <p:spPr>
          <a:xfrm>
            <a:off x="713232" y="1572768"/>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Source:</a:t>
            </a:r>
            <a:endParaRPr lang="en-US" sz="1000" dirty="0"/>
          </a:p>
        </p:txBody>
      </p:sp>
      <p:sp>
        <p:nvSpPr>
          <p:cNvPr id="8" name="Text 6"/>
          <p:cNvSpPr/>
          <p:nvPr/>
        </p:nvSpPr>
        <p:spPr>
          <a:xfrm>
            <a:off x="1691640" y="1572768"/>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Kaggle — Remote Work &amp; Wellbeing</a:t>
            </a:r>
            <a:endParaRPr lang="en-US" sz="950" dirty="0"/>
          </a:p>
        </p:txBody>
      </p:sp>
      <p:sp>
        <p:nvSpPr>
          <p:cNvPr id="9" name="Shape 7"/>
          <p:cNvSpPr/>
          <p:nvPr/>
        </p:nvSpPr>
        <p:spPr>
          <a:xfrm>
            <a:off x="566928" y="2029968"/>
            <a:ext cx="45720" cy="320040"/>
          </a:xfrm>
          <a:prstGeom prst="rect">
            <a:avLst/>
          </a:prstGeom>
          <a:solidFill>
            <a:srgbClr val="0E7C7B"/>
          </a:solidFill>
          <a:ln w="12700">
            <a:solidFill>
              <a:srgbClr val="0E7C7B"/>
            </a:solidFill>
            <a:prstDash val="solid"/>
          </a:ln>
        </p:spPr>
      </p:sp>
      <p:sp>
        <p:nvSpPr>
          <p:cNvPr id="10" name="Text 8"/>
          <p:cNvSpPr/>
          <p:nvPr/>
        </p:nvSpPr>
        <p:spPr>
          <a:xfrm>
            <a:off x="713232" y="2048256"/>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Records:</a:t>
            </a:r>
            <a:endParaRPr lang="en-US" sz="1000" dirty="0"/>
          </a:p>
        </p:txBody>
      </p:sp>
      <p:sp>
        <p:nvSpPr>
          <p:cNvPr id="11" name="Text 9"/>
          <p:cNvSpPr/>
          <p:nvPr/>
        </p:nvSpPr>
        <p:spPr>
          <a:xfrm>
            <a:off x="1691640" y="2048256"/>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2,000 employee observations</a:t>
            </a:r>
            <a:endParaRPr lang="en-US" sz="950" dirty="0"/>
          </a:p>
        </p:txBody>
      </p:sp>
      <p:sp>
        <p:nvSpPr>
          <p:cNvPr id="12" name="Shape 10"/>
          <p:cNvSpPr/>
          <p:nvPr/>
        </p:nvSpPr>
        <p:spPr>
          <a:xfrm>
            <a:off x="566928" y="2505456"/>
            <a:ext cx="45720" cy="320040"/>
          </a:xfrm>
          <a:prstGeom prst="rect">
            <a:avLst/>
          </a:prstGeom>
          <a:solidFill>
            <a:srgbClr val="0E7C7B"/>
          </a:solidFill>
          <a:ln w="12700">
            <a:solidFill>
              <a:srgbClr val="0E7C7B"/>
            </a:solidFill>
            <a:prstDash val="solid"/>
          </a:ln>
        </p:spPr>
      </p:sp>
      <p:sp>
        <p:nvSpPr>
          <p:cNvPr id="13" name="Text 11"/>
          <p:cNvSpPr/>
          <p:nvPr/>
        </p:nvSpPr>
        <p:spPr>
          <a:xfrm>
            <a:off x="713232" y="2523744"/>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Columns:</a:t>
            </a:r>
            <a:endParaRPr lang="en-US" sz="1000" dirty="0"/>
          </a:p>
        </p:txBody>
      </p:sp>
      <p:sp>
        <p:nvSpPr>
          <p:cNvPr id="14" name="Text 12"/>
          <p:cNvSpPr/>
          <p:nvPr/>
        </p:nvSpPr>
        <p:spPr>
          <a:xfrm>
            <a:off x="1691640" y="2523744"/>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14 total · 12 used as features</a:t>
            </a:r>
            <a:endParaRPr lang="en-US" sz="950" dirty="0"/>
          </a:p>
        </p:txBody>
      </p:sp>
      <p:sp>
        <p:nvSpPr>
          <p:cNvPr id="15" name="Shape 13"/>
          <p:cNvSpPr/>
          <p:nvPr/>
        </p:nvSpPr>
        <p:spPr>
          <a:xfrm>
            <a:off x="566928" y="2980944"/>
            <a:ext cx="45720" cy="320040"/>
          </a:xfrm>
          <a:prstGeom prst="rect">
            <a:avLst/>
          </a:prstGeom>
          <a:solidFill>
            <a:srgbClr val="0E7C7B"/>
          </a:solidFill>
          <a:ln w="12700">
            <a:solidFill>
              <a:srgbClr val="0E7C7B"/>
            </a:solidFill>
            <a:prstDash val="solid"/>
          </a:ln>
        </p:spPr>
      </p:sp>
      <p:sp>
        <p:nvSpPr>
          <p:cNvPr id="16" name="Text 14"/>
          <p:cNvSpPr/>
          <p:nvPr/>
        </p:nvSpPr>
        <p:spPr>
          <a:xfrm>
            <a:off x="713232" y="2999232"/>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Target:</a:t>
            </a:r>
            <a:endParaRPr lang="en-US" sz="1000" dirty="0"/>
          </a:p>
        </p:txBody>
      </p:sp>
      <p:sp>
        <p:nvSpPr>
          <p:cNvPr id="17" name="Text 15"/>
          <p:cNvSpPr/>
          <p:nvPr/>
        </p:nvSpPr>
        <p:spPr>
          <a:xfrm>
            <a:off x="1691640" y="2999232"/>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burnout_risk: Low / Med / High</a:t>
            </a:r>
            <a:endParaRPr lang="en-US" sz="950" dirty="0"/>
          </a:p>
        </p:txBody>
      </p:sp>
      <p:sp>
        <p:nvSpPr>
          <p:cNvPr id="18" name="Shape 16"/>
          <p:cNvSpPr/>
          <p:nvPr/>
        </p:nvSpPr>
        <p:spPr>
          <a:xfrm>
            <a:off x="566928" y="3456432"/>
            <a:ext cx="45720" cy="320040"/>
          </a:xfrm>
          <a:prstGeom prst="rect">
            <a:avLst/>
          </a:prstGeom>
          <a:solidFill>
            <a:srgbClr val="0E7C7B"/>
          </a:solidFill>
          <a:ln w="12700">
            <a:solidFill>
              <a:srgbClr val="0E7C7B"/>
            </a:solidFill>
            <a:prstDash val="solid"/>
          </a:ln>
        </p:spPr>
      </p:sp>
      <p:sp>
        <p:nvSpPr>
          <p:cNvPr id="19" name="Text 17"/>
          <p:cNvSpPr/>
          <p:nvPr/>
        </p:nvSpPr>
        <p:spPr>
          <a:xfrm>
            <a:off x="713232" y="3474720"/>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Missing:</a:t>
            </a:r>
            <a:endParaRPr lang="en-US" sz="1000" dirty="0"/>
          </a:p>
        </p:txBody>
      </p:sp>
      <p:sp>
        <p:nvSpPr>
          <p:cNvPr id="20" name="Text 18"/>
          <p:cNvSpPr/>
          <p:nvPr/>
        </p:nvSpPr>
        <p:spPr>
          <a:xfrm>
            <a:off x="1691640" y="3474720"/>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0 — dataset is fully clean</a:t>
            </a:r>
            <a:endParaRPr lang="en-US" sz="950" dirty="0"/>
          </a:p>
        </p:txBody>
      </p:sp>
      <p:sp>
        <p:nvSpPr>
          <p:cNvPr id="21" name="Shape 19"/>
          <p:cNvSpPr/>
          <p:nvPr/>
        </p:nvSpPr>
        <p:spPr>
          <a:xfrm>
            <a:off x="566928" y="3931920"/>
            <a:ext cx="45720" cy="320040"/>
          </a:xfrm>
          <a:prstGeom prst="rect">
            <a:avLst/>
          </a:prstGeom>
          <a:solidFill>
            <a:srgbClr val="0E7C7B"/>
          </a:solidFill>
          <a:ln w="12700">
            <a:solidFill>
              <a:srgbClr val="0E7C7B"/>
            </a:solidFill>
            <a:prstDash val="solid"/>
          </a:ln>
        </p:spPr>
      </p:sp>
      <p:sp>
        <p:nvSpPr>
          <p:cNvPr id="22" name="Text 20"/>
          <p:cNvSpPr/>
          <p:nvPr/>
        </p:nvSpPr>
        <p:spPr>
          <a:xfrm>
            <a:off x="713232" y="3950208"/>
            <a:ext cx="960120" cy="256032"/>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Imbalance:</a:t>
            </a:r>
            <a:endParaRPr lang="en-US" sz="1000" dirty="0"/>
          </a:p>
        </p:txBody>
      </p:sp>
      <p:sp>
        <p:nvSpPr>
          <p:cNvPr id="23" name="Text 21"/>
          <p:cNvSpPr/>
          <p:nvPr/>
        </p:nvSpPr>
        <p:spPr>
          <a:xfrm>
            <a:off x="1691640" y="3950208"/>
            <a:ext cx="21031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Low 51% · Med 42% · High 7%</a:t>
            </a:r>
            <a:endParaRPr lang="en-US" sz="950" dirty="0"/>
          </a:p>
        </p:txBody>
      </p:sp>
      <p:sp>
        <p:nvSpPr>
          <p:cNvPr id="24" name="Shape 22"/>
          <p:cNvSpPr/>
          <p:nvPr/>
        </p:nvSpPr>
        <p:spPr>
          <a:xfrm>
            <a:off x="4160520" y="960120"/>
            <a:ext cx="4572000" cy="37947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5" name="Text 23"/>
          <p:cNvSpPr/>
          <p:nvPr/>
        </p:nvSpPr>
        <p:spPr>
          <a:xfrm>
            <a:off x="4297680" y="1051560"/>
            <a:ext cx="4297680" cy="347472"/>
          </a:xfrm>
          <a:prstGeom prst="rect">
            <a:avLst/>
          </a:prstGeom>
          <a:noFill/>
          <a:ln/>
        </p:spPr>
        <p:txBody>
          <a:bodyPr wrap="square"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All 12 Features Used</a:t>
            </a:r>
            <a:endParaRPr lang="en-US" sz="1300" dirty="0"/>
          </a:p>
        </p:txBody>
      </p:sp>
      <p:sp>
        <p:nvSpPr>
          <p:cNvPr id="26" name="Shape 24"/>
          <p:cNvSpPr/>
          <p:nvPr/>
        </p:nvSpPr>
        <p:spPr>
          <a:xfrm>
            <a:off x="4206240" y="1444752"/>
            <a:ext cx="4434840" cy="292608"/>
          </a:xfrm>
          <a:prstGeom prst="rect">
            <a:avLst/>
          </a:prstGeom>
          <a:solidFill>
            <a:srgbClr val="1A2B4A"/>
          </a:solidFill>
          <a:ln w="12700">
            <a:solidFill>
              <a:srgbClr val="1A2B4A"/>
            </a:solidFill>
            <a:prstDash val="solid"/>
          </a:ln>
        </p:spPr>
      </p:sp>
      <p:sp>
        <p:nvSpPr>
          <p:cNvPr id="27" name="Text 25"/>
          <p:cNvSpPr/>
          <p:nvPr/>
        </p:nvSpPr>
        <p:spPr>
          <a:xfrm>
            <a:off x="4279392" y="1472184"/>
            <a:ext cx="1828800" cy="237744"/>
          </a:xfrm>
          <a:prstGeom prst="rect">
            <a:avLst/>
          </a:prstGeom>
          <a:noFill/>
          <a:ln/>
        </p:spPr>
        <p:txBody>
          <a:bodyPr wrap="square" lIns="0" tIns="0" rIns="0" bIns="0" rtlCol="0" anchor="ctr"/>
          <a:lstStyle/>
          <a:p>
            <a:pPr marL="0" indent="0">
              <a:buNone/>
            </a:pPr>
            <a:r>
              <a:rPr lang="en-US" sz="950" b="1" dirty="0">
                <a:solidFill>
                  <a:srgbClr val="FFFFFF"/>
                </a:solidFill>
              </a:rPr>
              <a:t>Feature</a:t>
            </a:r>
            <a:endParaRPr lang="en-US" sz="950" dirty="0"/>
          </a:p>
        </p:txBody>
      </p:sp>
      <p:sp>
        <p:nvSpPr>
          <p:cNvPr id="28" name="Text 26"/>
          <p:cNvSpPr/>
          <p:nvPr/>
        </p:nvSpPr>
        <p:spPr>
          <a:xfrm>
            <a:off x="6126480" y="1472184"/>
            <a:ext cx="2377440" cy="237744"/>
          </a:xfrm>
          <a:prstGeom prst="rect">
            <a:avLst/>
          </a:prstGeom>
          <a:noFill/>
          <a:ln/>
        </p:spPr>
        <p:txBody>
          <a:bodyPr wrap="square" lIns="0" tIns="0" rIns="0" bIns="0" rtlCol="0" anchor="ctr"/>
          <a:lstStyle/>
          <a:p>
            <a:pPr marL="0" indent="0">
              <a:buNone/>
            </a:pPr>
            <a:r>
              <a:rPr lang="en-US" sz="950" b="1" dirty="0">
                <a:solidFill>
                  <a:srgbClr val="FFFFFF"/>
                </a:solidFill>
              </a:rPr>
              <a:t>Description</a:t>
            </a:r>
            <a:endParaRPr lang="en-US" sz="950" dirty="0"/>
          </a:p>
        </p:txBody>
      </p:sp>
      <p:sp>
        <p:nvSpPr>
          <p:cNvPr id="29" name="Shape 27"/>
          <p:cNvSpPr/>
          <p:nvPr/>
        </p:nvSpPr>
        <p:spPr>
          <a:xfrm>
            <a:off x="4206240" y="1746504"/>
            <a:ext cx="4434840" cy="265176"/>
          </a:xfrm>
          <a:prstGeom prst="rect">
            <a:avLst/>
          </a:prstGeom>
          <a:solidFill>
            <a:srgbClr val="E8F4F4"/>
          </a:solidFill>
          <a:ln w="6350">
            <a:solidFill>
              <a:srgbClr val="E2E8F0"/>
            </a:solidFill>
            <a:prstDash val="solid"/>
          </a:ln>
        </p:spPr>
      </p:sp>
      <p:sp>
        <p:nvSpPr>
          <p:cNvPr id="30" name="Text 28"/>
          <p:cNvSpPr/>
          <p:nvPr/>
        </p:nvSpPr>
        <p:spPr>
          <a:xfrm>
            <a:off x="4279392" y="177393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fatigue_score</a:t>
            </a:r>
            <a:endParaRPr lang="en-US" sz="850" dirty="0"/>
          </a:p>
        </p:txBody>
      </p:sp>
      <p:sp>
        <p:nvSpPr>
          <p:cNvPr id="31" name="Text 29"/>
          <p:cNvSpPr/>
          <p:nvPr/>
        </p:nvSpPr>
        <p:spPr>
          <a:xfrm>
            <a:off x="6126480" y="177393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 Self-reported fatigue (0–10)</a:t>
            </a:r>
            <a:endParaRPr lang="en-US" sz="850" dirty="0"/>
          </a:p>
        </p:txBody>
      </p:sp>
      <p:sp>
        <p:nvSpPr>
          <p:cNvPr id="32" name="Shape 30"/>
          <p:cNvSpPr/>
          <p:nvPr/>
        </p:nvSpPr>
        <p:spPr>
          <a:xfrm>
            <a:off x="4206240" y="2020824"/>
            <a:ext cx="4434840" cy="265176"/>
          </a:xfrm>
          <a:prstGeom prst="rect">
            <a:avLst/>
          </a:prstGeom>
          <a:solidFill>
            <a:srgbClr val="FFFFFF"/>
          </a:solidFill>
          <a:ln w="6350">
            <a:solidFill>
              <a:srgbClr val="E2E8F0"/>
            </a:solidFill>
            <a:prstDash val="solid"/>
          </a:ln>
        </p:spPr>
      </p:sp>
      <p:sp>
        <p:nvSpPr>
          <p:cNvPr id="33" name="Text 31"/>
          <p:cNvSpPr/>
          <p:nvPr/>
        </p:nvSpPr>
        <p:spPr>
          <a:xfrm>
            <a:off x="4279392" y="204825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isolation_index</a:t>
            </a:r>
            <a:endParaRPr lang="en-US" sz="850" dirty="0"/>
          </a:p>
        </p:txBody>
      </p:sp>
      <p:sp>
        <p:nvSpPr>
          <p:cNvPr id="34" name="Text 32"/>
          <p:cNvSpPr/>
          <p:nvPr/>
        </p:nvSpPr>
        <p:spPr>
          <a:xfrm>
            <a:off x="6126480" y="204825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 Social isolation level</a:t>
            </a:r>
            <a:endParaRPr lang="en-US" sz="850" dirty="0"/>
          </a:p>
        </p:txBody>
      </p:sp>
      <p:sp>
        <p:nvSpPr>
          <p:cNvPr id="35" name="Shape 33"/>
          <p:cNvSpPr/>
          <p:nvPr/>
        </p:nvSpPr>
        <p:spPr>
          <a:xfrm>
            <a:off x="4206240" y="2295144"/>
            <a:ext cx="4434840" cy="265176"/>
          </a:xfrm>
          <a:prstGeom prst="rect">
            <a:avLst/>
          </a:prstGeom>
          <a:solidFill>
            <a:srgbClr val="E8F4F4"/>
          </a:solidFill>
          <a:ln w="6350">
            <a:solidFill>
              <a:srgbClr val="E2E8F0"/>
            </a:solidFill>
            <a:prstDash val="solid"/>
          </a:ln>
        </p:spPr>
      </p:sp>
      <p:sp>
        <p:nvSpPr>
          <p:cNvPr id="36" name="Text 34"/>
          <p:cNvSpPr/>
          <p:nvPr/>
        </p:nvSpPr>
        <p:spPr>
          <a:xfrm>
            <a:off x="4279392" y="232257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sleep_hours</a:t>
            </a:r>
            <a:endParaRPr lang="en-US" sz="850" dirty="0"/>
          </a:p>
        </p:txBody>
      </p:sp>
      <p:sp>
        <p:nvSpPr>
          <p:cNvPr id="37" name="Text 35"/>
          <p:cNvSpPr/>
          <p:nvPr/>
        </p:nvSpPr>
        <p:spPr>
          <a:xfrm>
            <a:off x="6126480" y="232257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Hours of sleep per night</a:t>
            </a:r>
            <a:endParaRPr lang="en-US" sz="850" dirty="0"/>
          </a:p>
        </p:txBody>
      </p:sp>
      <p:sp>
        <p:nvSpPr>
          <p:cNvPr id="38" name="Shape 36"/>
          <p:cNvSpPr/>
          <p:nvPr/>
        </p:nvSpPr>
        <p:spPr>
          <a:xfrm>
            <a:off x="4206240" y="2569464"/>
            <a:ext cx="4434840" cy="265176"/>
          </a:xfrm>
          <a:prstGeom prst="rect">
            <a:avLst/>
          </a:prstGeom>
          <a:solidFill>
            <a:srgbClr val="FFFFFF"/>
          </a:solidFill>
          <a:ln w="6350">
            <a:solidFill>
              <a:srgbClr val="E2E8F0"/>
            </a:solidFill>
            <a:prstDash val="solid"/>
          </a:ln>
        </p:spPr>
      </p:sp>
      <p:sp>
        <p:nvSpPr>
          <p:cNvPr id="39" name="Text 37"/>
          <p:cNvSpPr/>
          <p:nvPr/>
        </p:nvSpPr>
        <p:spPr>
          <a:xfrm>
            <a:off x="4279392" y="259689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work_hours</a:t>
            </a:r>
            <a:endParaRPr lang="en-US" sz="850" dirty="0"/>
          </a:p>
        </p:txBody>
      </p:sp>
      <p:sp>
        <p:nvSpPr>
          <p:cNvPr id="40" name="Text 38"/>
          <p:cNvSpPr/>
          <p:nvPr/>
        </p:nvSpPr>
        <p:spPr>
          <a:xfrm>
            <a:off x="6126480" y="259689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Hours worked per day</a:t>
            </a:r>
            <a:endParaRPr lang="en-US" sz="850" dirty="0"/>
          </a:p>
        </p:txBody>
      </p:sp>
      <p:sp>
        <p:nvSpPr>
          <p:cNvPr id="41" name="Shape 39"/>
          <p:cNvSpPr/>
          <p:nvPr/>
        </p:nvSpPr>
        <p:spPr>
          <a:xfrm>
            <a:off x="4206240" y="2843784"/>
            <a:ext cx="4434840" cy="265176"/>
          </a:xfrm>
          <a:prstGeom prst="rect">
            <a:avLst/>
          </a:prstGeom>
          <a:solidFill>
            <a:srgbClr val="E8F4F4"/>
          </a:solidFill>
          <a:ln w="6350">
            <a:solidFill>
              <a:srgbClr val="E2E8F0"/>
            </a:solidFill>
            <a:prstDash val="solid"/>
          </a:ln>
        </p:spPr>
      </p:sp>
      <p:sp>
        <p:nvSpPr>
          <p:cNvPr id="42" name="Text 40"/>
          <p:cNvSpPr/>
          <p:nvPr/>
        </p:nvSpPr>
        <p:spPr>
          <a:xfrm>
            <a:off x="4279392" y="287121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screen_time_hours</a:t>
            </a:r>
            <a:endParaRPr lang="en-US" sz="850" dirty="0"/>
          </a:p>
        </p:txBody>
      </p:sp>
      <p:sp>
        <p:nvSpPr>
          <p:cNvPr id="43" name="Text 41"/>
          <p:cNvSpPr/>
          <p:nvPr/>
        </p:nvSpPr>
        <p:spPr>
          <a:xfrm>
            <a:off x="6126480" y="287121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Daily screen time (hours)</a:t>
            </a:r>
            <a:endParaRPr lang="en-US" sz="850" dirty="0"/>
          </a:p>
        </p:txBody>
      </p:sp>
      <p:sp>
        <p:nvSpPr>
          <p:cNvPr id="44" name="Shape 42"/>
          <p:cNvSpPr/>
          <p:nvPr/>
        </p:nvSpPr>
        <p:spPr>
          <a:xfrm>
            <a:off x="4206240" y="3118104"/>
            <a:ext cx="4434840" cy="265176"/>
          </a:xfrm>
          <a:prstGeom prst="rect">
            <a:avLst/>
          </a:prstGeom>
          <a:solidFill>
            <a:srgbClr val="FFFFFF"/>
          </a:solidFill>
          <a:ln w="6350">
            <a:solidFill>
              <a:srgbClr val="E2E8F0"/>
            </a:solidFill>
            <a:prstDash val="solid"/>
          </a:ln>
        </p:spPr>
      </p:sp>
      <p:sp>
        <p:nvSpPr>
          <p:cNvPr id="45" name="Text 43"/>
          <p:cNvSpPr/>
          <p:nvPr/>
        </p:nvSpPr>
        <p:spPr>
          <a:xfrm>
            <a:off x="4279392" y="314553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task_completion</a:t>
            </a:r>
            <a:endParaRPr lang="en-US" sz="850" dirty="0"/>
          </a:p>
        </p:txBody>
      </p:sp>
      <p:sp>
        <p:nvSpPr>
          <p:cNvPr id="46" name="Text 44"/>
          <p:cNvSpPr/>
          <p:nvPr/>
        </p:nvSpPr>
        <p:spPr>
          <a:xfrm>
            <a:off x="6126480" y="314553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Task completion rate (0–1)</a:t>
            </a:r>
            <a:endParaRPr lang="en-US" sz="850" dirty="0"/>
          </a:p>
        </p:txBody>
      </p:sp>
      <p:sp>
        <p:nvSpPr>
          <p:cNvPr id="47" name="Shape 45"/>
          <p:cNvSpPr/>
          <p:nvPr/>
        </p:nvSpPr>
        <p:spPr>
          <a:xfrm>
            <a:off x="4206240" y="3392424"/>
            <a:ext cx="4434840" cy="265176"/>
          </a:xfrm>
          <a:prstGeom prst="rect">
            <a:avLst/>
          </a:prstGeom>
          <a:solidFill>
            <a:srgbClr val="E8F4F4"/>
          </a:solidFill>
          <a:ln w="6350">
            <a:solidFill>
              <a:srgbClr val="E2E8F0"/>
            </a:solidFill>
            <a:prstDash val="solid"/>
          </a:ln>
        </p:spPr>
      </p:sp>
      <p:sp>
        <p:nvSpPr>
          <p:cNvPr id="48" name="Text 46"/>
          <p:cNvSpPr/>
          <p:nvPr/>
        </p:nvSpPr>
        <p:spPr>
          <a:xfrm>
            <a:off x="4279392" y="341985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app_switches</a:t>
            </a:r>
            <a:endParaRPr lang="en-US" sz="850" dirty="0"/>
          </a:p>
        </p:txBody>
      </p:sp>
      <p:sp>
        <p:nvSpPr>
          <p:cNvPr id="49" name="Text 47"/>
          <p:cNvSpPr/>
          <p:nvPr/>
        </p:nvSpPr>
        <p:spPr>
          <a:xfrm>
            <a:off x="6126480" y="341985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Number of app context switches</a:t>
            </a:r>
            <a:endParaRPr lang="en-US" sz="850" dirty="0"/>
          </a:p>
        </p:txBody>
      </p:sp>
      <p:sp>
        <p:nvSpPr>
          <p:cNvPr id="50" name="Shape 48"/>
          <p:cNvSpPr/>
          <p:nvPr/>
        </p:nvSpPr>
        <p:spPr>
          <a:xfrm>
            <a:off x="4206240" y="3666744"/>
            <a:ext cx="4434840" cy="265176"/>
          </a:xfrm>
          <a:prstGeom prst="rect">
            <a:avLst/>
          </a:prstGeom>
          <a:solidFill>
            <a:srgbClr val="FFFFFF"/>
          </a:solidFill>
          <a:ln w="6350">
            <a:solidFill>
              <a:srgbClr val="E2E8F0"/>
            </a:solidFill>
            <a:prstDash val="solid"/>
          </a:ln>
        </p:spPr>
      </p:sp>
      <p:sp>
        <p:nvSpPr>
          <p:cNvPr id="51" name="Text 49"/>
          <p:cNvSpPr/>
          <p:nvPr/>
        </p:nvSpPr>
        <p:spPr>
          <a:xfrm>
            <a:off x="4279392" y="369417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meetings_count</a:t>
            </a:r>
            <a:endParaRPr lang="en-US" sz="850" dirty="0"/>
          </a:p>
        </p:txBody>
      </p:sp>
      <p:sp>
        <p:nvSpPr>
          <p:cNvPr id="52" name="Text 50"/>
          <p:cNvSpPr/>
          <p:nvPr/>
        </p:nvSpPr>
        <p:spPr>
          <a:xfrm>
            <a:off x="6126480" y="369417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Meetings attended per day</a:t>
            </a:r>
            <a:endParaRPr lang="en-US" sz="850" dirty="0"/>
          </a:p>
        </p:txBody>
      </p:sp>
      <p:sp>
        <p:nvSpPr>
          <p:cNvPr id="53" name="Shape 51"/>
          <p:cNvSpPr/>
          <p:nvPr/>
        </p:nvSpPr>
        <p:spPr>
          <a:xfrm>
            <a:off x="4206240" y="3941064"/>
            <a:ext cx="4434840" cy="265176"/>
          </a:xfrm>
          <a:prstGeom prst="rect">
            <a:avLst/>
          </a:prstGeom>
          <a:solidFill>
            <a:srgbClr val="E8F4F4"/>
          </a:solidFill>
          <a:ln w="6350">
            <a:solidFill>
              <a:srgbClr val="E2E8F0"/>
            </a:solidFill>
            <a:prstDash val="solid"/>
          </a:ln>
        </p:spPr>
      </p:sp>
      <p:sp>
        <p:nvSpPr>
          <p:cNvPr id="54" name="Text 52"/>
          <p:cNvSpPr/>
          <p:nvPr/>
        </p:nvSpPr>
        <p:spPr>
          <a:xfrm>
            <a:off x="4279392" y="396849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after_hours_work</a:t>
            </a:r>
            <a:endParaRPr lang="en-US" sz="850" dirty="0"/>
          </a:p>
        </p:txBody>
      </p:sp>
      <p:sp>
        <p:nvSpPr>
          <p:cNvPr id="55" name="Text 53"/>
          <p:cNvSpPr/>
          <p:nvPr/>
        </p:nvSpPr>
        <p:spPr>
          <a:xfrm>
            <a:off x="6126480" y="396849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Work done outside hours</a:t>
            </a:r>
            <a:endParaRPr lang="en-US" sz="850" dirty="0"/>
          </a:p>
        </p:txBody>
      </p:sp>
      <p:sp>
        <p:nvSpPr>
          <p:cNvPr id="56" name="Shape 54"/>
          <p:cNvSpPr/>
          <p:nvPr/>
        </p:nvSpPr>
        <p:spPr>
          <a:xfrm>
            <a:off x="4206240" y="4215384"/>
            <a:ext cx="4434840" cy="265176"/>
          </a:xfrm>
          <a:prstGeom prst="rect">
            <a:avLst/>
          </a:prstGeom>
          <a:solidFill>
            <a:srgbClr val="FFFFFF"/>
          </a:solidFill>
          <a:ln w="6350">
            <a:solidFill>
              <a:srgbClr val="E2E8F0"/>
            </a:solidFill>
            <a:prstDash val="solid"/>
          </a:ln>
        </p:spPr>
      </p:sp>
      <p:sp>
        <p:nvSpPr>
          <p:cNvPr id="57" name="Text 55"/>
          <p:cNvSpPr/>
          <p:nvPr/>
        </p:nvSpPr>
        <p:spPr>
          <a:xfrm>
            <a:off x="4279392" y="424281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breaks_taken</a:t>
            </a:r>
            <a:endParaRPr lang="en-US" sz="850" dirty="0"/>
          </a:p>
        </p:txBody>
      </p:sp>
      <p:sp>
        <p:nvSpPr>
          <p:cNvPr id="58" name="Text 56"/>
          <p:cNvSpPr/>
          <p:nvPr/>
        </p:nvSpPr>
        <p:spPr>
          <a:xfrm>
            <a:off x="6126480" y="424281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Number of breaks taken</a:t>
            </a:r>
            <a:endParaRPr lang="en-US" sz="850" dirty="0"/>
          </a:p>
        </p:txBody>
      </p:sp>
      <p:sp>
        <p:nvSpPr>
          <p:cNvPr id="59" name="Shape 57"/>
          <p:cNvSpPr/>
          <p:nvPr/>
        </p:nvSpPr>
        <p:spPr>
          <a:xfrm>
            <a:off x="4206240" y="4489704"/>
            <a:ext cx="4434840" cy="265176"/>
          </a:xfrm>
          <a:prstGeom prst="rect">
            <a:avLst/>
          </a:prstGeom>
          <a:solidFill>
            <a:srgbClr val="E8F4F4"/>
          </a:solidFill>
          <a:ln w="6350">
            <a:solidFill>
              <a:srgbClr val="E2E8F0"/>
            </a:solidFill>
            <a:prstDash val="solid"/>
          </a:ln>
        </p:spPr>
      </p:sp>
      <p:sp>
        <p:nvSpPr>
          <p:cNvPr id="60" name="Text 58"/>
          <p:cNvSpPr/>
          <p:nvPr/>
        </p:nvSpPr>
        <p:spPr>
          <a:xfrm>
            <a:off x="4279392" y="4517136"/>
            <a:ext cx="1828800" cy="201168"/>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day_type</a:t>
            </a:r>
            <a:endParaRPr lang="en-US" sz="850" dirty="0"/>
          </a:p>
        </p:txBody>
      </p:sp>
      <p:sp>
        <p:nvSpPr>
          <p:cNvPr id="61" name="Text 59"/>
          <p:cNvSpPr/>
          <p:nvPr/>
        </p:nvSpPr>
        <p:spPr>
          <a:xfrm>
            <a:off x="6126480" y="4517136"/>
            <a:ext cx="242316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Weekday vs Weekend</a:t>
            </a:r>
            <a:endParaRPr lang="en-US" sz="850" dirty="0"/>
          </a:p>
        </p:txBody>
      </p:sp>
      <p:sp>
        <p:nvSpPr>
          <p:cNvPr id="62" name="Text 60"/>
          <p:cNvSpPr/>
          <p:nvPr/>
        </p:nvSpPr>
        <p:spPr>
          <a:xfrm>
            <a:off x="6652260" y="1170432"/>
            <a:ext cx="4434840" cy="256032"/>
          </a:xfrm>
          <a:prstGeom prst="rect">
            <a:avLst/>
          </a:prstGeom>
          <a:noFill/>
          <a:ln/>
        </p:spPr>
        <p:txBody>
          <a:bodyPr wrap="square" rtlCol="0" anchor="ctr"/>
          <a:lstStyle/>
          <a:p>
            <a:pPr marL="0" indent="0">
              <a:buNone/>
            </a:pPr>
            <a:r>
              <a:rPr lang="en-US" sz="850" i="1" dirty="0">
                <a:solidFill>
                  <a:srgbClr val="0E7C7B"/>
                </a:solidFill>
                <a:latin typeface="Calibri" pitchFamily="34" charset="0"/>
                <a:ea typeface="Calibri" pitchFamily="34" charset="-122"/>
                <a:cs typeface="Calibri" pitchFamily="34" charset="-120"/>
              </a:rPr>
              <a:t>★ = top 2 predictors from Random Forest</a:t>
            </a:r>
            <a:endParaRPr lang="en-US" sz="850" dirty="0"/>
          </a:p>
        </p:txBody>
      </p:sp>
      <p:sp>
        <p:nvSpPr>
          <p:cNvPr id="63" name="TextBox 62"/>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4 / 15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Key EDA Insights</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Text 2"/>
          <p:cNvSpPr/>
          <p:nvPr/>
        </p:nvSpPr>
        <p:spPr>
          <a:xfrm>
            <a:off x="457200" y="822960"/>
            <a:ext cx="8229600" cy="27432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Real charts from our notebook — each one informed a modeling decision</a:t>
            </a:r>
            <a:endParaRPr lang="en-US" sz="1100" dirty="0"/>
          </a:p>
        </p:txBody>
      </p:sp>
      <p:sp>
        <p:nvSpPr>
          <p:cNvPr id="5" name="Shape 3"/>
          <p:cNvSpPr/>
          <p:nvPr/>
        </p:nvSpPr>
        <p:spPr>
          <a:xfrm>
            <a:off x="457200" y="1188720"/>
            <a:ext cx="4023360" cy="19202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6" name="Shape 4"/>
          <p:cNvSpPr/>
          <p:nvPr/>
        </p:nvSpPr>
        <p:spPr>
          <a:xfrm>
            <a:off x="457200" y="1188720"/>
            <a:ext cx="4023360" cy="73152"/>
          </a:xfrm>
          <a:prstGeom prst="rect">
            <a:avLst/>
          </a:prstGeom>
          <a:solidFill>
            <a:srgbClr val="0E7C7B"/>
          </a:solidFill>
          <a:ln w="12700">
            <a:solidFill>
              <a:srgbClr val="0E7C7B"/>
            </a:solidFill>
            <a:prstDash val="solid"/>
          </a:ln>
        </p:spPr>
      </p:sp>
      <p:sp>
        <p:nvSpPr>
          <p:cNvPr id="7" name="Text 5"/>
          <p:cNvSpPr/>
          <p:nvPr/>
        </p:nvSpPr>
        <p:spPr>
          <a:xfrm>
            <a:off x="548640" y="1298448"/>
            <a:ext cx="384048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Burnout Risk Distribution</a:t>
            </a:r>
            <a:endParaRPr lang="en-US" sz="1100" dirty="0"/>
          </a:p>
        </p:txBody>
      </p:sp>
      <p:pic>
        <p:nvPicPr>
          <p:cNvPr id="8" name="Image 0" descr="preencoded.png"/>
          <p:cNvPicPr>
            <a:picLocks noChangeAspect="1"/>
          </p:cNvPicPr>
          <p:nvPr/>
        </p:nvPicPr>
        <p:blipFill>
          <a:blip r:embed="rId3"/>
          <a:stretch>
            <a:fillRect/>
          </a:stretch>
        </p:blipFill>
        <p:spPr>
          <a:xfrm>
            <a:off x="548640" y="1600200"/>
            <a:ext cx="2194560" cy="1389888"/>
          </a:xfrm>
          <a:prstGeom prst="rect">
            <a:avLst/>
          </a:prstGeom>
        </p:spPr>
      </p:pic>
      <p:sp>
        <p:nvSpPr>
          <p:cNvPr id="9" name="Text 6"/>
          <p:cNvSpPr/>
          <p:nvPr/>
        </p:nvSpPr>
        <p:spPr>
          <a:xfrm>
            <a:off x="2834640" y="1645920"/>
            <a:ext cx="1554480" cy="1325880"/>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Class imbalance: 138 High-Risk (7%) vs 1,019 Low. Requires class weighting strategy.</a:t>
            </a:r>
            <a:endParaRPr lang="en-US" sz="900" dirty="0"/>
          </a:p>
        </p:txBody>
      </p:sp>
      <p:sp>
        <p:nvSpPr>
          <p:cNvPr id="10" name="Shape 7"/>
          <p:cNvSpPr/>
          <p:nvPr/>
        </p:nvSpPr>
        <p:spPr>
          <a:xfrm>
            <a:off x="4709160" y="1188720"/>
            <a:ext cx="4023360" cy="19202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1" name="Shape 8"/>
          <p:cNvSpPr/>
          <p:nvPr/>
        </p:nvSpPr>
        <p:spPr>
          <a:xfrm>
            <a:off x="4709160" y="1188720"/>
            <a:ext cx="4023360" cy="73152"/>
          </a:xfrm>
          <a:prstGeom prst="rect">
            <a:avLst/>
          </a:prstGeom>
          <a:solidFill>
            <a:srgbClr val="1A2B4A"/>
          </a:solidFill>
          <a:ln w="12700">
            <a:solidFill>
              <a:srgbClr val="1A2B4A"/>
            </a:solidFill>
            <a:prstDash val="solid"/>
          </a:ln>
        </p:spPr>
      </p:sp>
      <p:sp>
        <p:nvSpPr>
          <p:cNvPr id="12" name="Text 9"/>
          <p:cNvSpPr/>
          <p:nvPr/>
        </p:nvSpPr>
        <p:spPr>
          <a:xfrm>
            <a:off x="4800600" y="1298448"/>
            <a:ext cx="384048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Work Hours vs. Risk</a:t>
            </a:r>
            <a:endParaRPr lang="en-US" sz="1100" dirty="0"/>
          </a:p>
        </p:txBody>
      </p:sp>
      <p:pic>
        <p:nvPicPr>
          <p:cNvPr id="13" name="Image 1" descr="preencoded.png"/>
          <p:cNvPicPr>
            <a:picLocks noChangeAspect="1"/>
          </p:cNvPicPr>
          <p:nvPr/>
        </p:nvPicPr>
        <p:blipFill>
          <a:blip r:embed="rId4"/>
          <a:stretch>
            <a:fillRect/>
          </a:stretch>
        </p:blipFill>
        <p:spPr>
          <a:xfrm>
            <a:off x="4800600" y="1600200"/>
            <a:ext cx="2194560" cy="1389888"/>
          </a:xfrm>
          <a:prstGeom prst="rect">
            <a:avLst/>
          </a:prstGeom>
        </p:spPr>
      </p:pic>
      <p:sp>
        <p:nvSpPr>
          <p:cNvPr id="14" name="Text 10"/>
          <p:cNvSpPr/>
          <p:nvPr/>
        </p:nvSpPr>
        <p:spPr>
          <a:xfrm>
            <a:off x="7086600" y="1645920"/>
            <a:ext cx="1554480" cy="1325880"/>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High-Risk employees work 12+ hrs/day median. Clear separation from Low-Risk group.</a:t>
            </a:r>
            <a:endParaRPr lang="en-US" sz="900" dirty="0"/>
          </a:p>
        </p:txBody>
      </p:sp>
      <p:sp>
        <p:nvSpPr>
          <p:cNvPr id="15" name="Shape 11"/>
          <p:cNvSpPr/>
          <p:nvPr/>
        </p:nvSpPr>
        <p:spPr>
          <a:xfrm>
            <a:off x="457200" y="3017520"/>
            <a:ext cx="4023360" cy="19202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6" name="Shape 12"/>
          <p:cNvSpPr/>
          <p:nvPr/>
        </p:nvSpPr>
        <p:spPr>
          <a:xfrm>
            <a:off x="457200" y="3017520"/>
            <a:ext cx="4023360" cy="73152"/>
          </a:xfrm>
          <a:prstGeom prst="rect">
            <a:avLst/>
          </a:prstGeom>
          <a:solidFill>
            <a:srgbClr val="0E7C7B"/>
          </a:solidFill>
          <a:ln w="12700">
            <a:solidFill>
              <a:srgbClr val="0E7C7B"/>
            </a:solidFill>
            <a:prstDash val="solid"/>
          </a:ln>
        </p:spPr>
      </p:sp>
      <p:sp>
        <p:nvSpPr>
          <p:cNvPr id="17" name="Text 13"/>
          <p:cNvSpPr/>
          <p:nvPr/>
        </p:nvSpPr>
        <p:spPr>
          <a:xfrm>
            <a:off x="548640" y="3127248"/>
            <a:ext cx="384048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Sleep Hours vs. Risk</a:t>
            </a:r>
            <a:endParaRPr lang="en-US" sz="1100" dirty="0"/>
          </a:p>
        </p:txBody>
      </p:sp>
      <p:pic>
        <p:nvPicPr>
          <p:cNvPr id="18" name="Image 2" descr="preencoded.png"/>
          <p:cNvPicPr>
            <a:picLocks noChangeAspect="1"/>
          </p:cNvPicPr>
          <p:nvPr/>
        </p:nvPicPr>
        <p:blipFill>
          <a:blip r:embed="rId5"/>
          <a:stretch>
            <a:fillRect/>
          </a:stretch>
        </p:blipFill>
        <p:spPr>
          <a:xfrm>
            <a:off x="548640" y="3429000"/>
            <a:ext cx="2194560" cy="1389888"/>
          </a:xfrm>
          <a:prstGeom prst="rect">
            <a:avLst/>
          </a:prstGeom>
        </p:spPr>
      </p:pic>
      <p:sp>
        <p:nvSpPr>
          <p:cNvPr id="19" name="Text 14"/>
          <p:cNvSpPr/>
          <p:nvPr/>
        </p:nvSpPr>
        <p:spPr>
          <a:xfrm>
            <a:off x="2834640" y="3474720"/>
            <a:ext cx="1554480" cy="1325880"/>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High-Risk: median ~5h sleep. Low-Risk: ~7.5h. Strong inverse relationship confirmed.</a:t>
            </a:r>
            <a:endParaRPr lang="en-US" sz="900" dirty="0"/>
          </a:p>
        </p:txBody>
      </p:sp>
      <p:sp>
        <p:nvSpPr>
          <p:cNvPr id="20" name="Shape 15"/>
          <p:cNvSpPr/>
          <p:nvPr/>
        </p:nvSpPr>
        <p:spPr>
          <a:xfrm>
            <a:off x="4709160" y="3017520"/>
            <a:ext cx="4023360" cy="19202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1" name="Shape 16"/>
          <p:cNvSpPr/>
          <p:nvPr/>
        </p:nvSpPr>
        <p:spPr>
          <a:xfrm>
            <a:off x="4709160" y="3017520"/>
            <a:ext cx="4023360" cy="73152"/>
          </a:xfrm>
          <a:prstGeom prst="rect">
            <a:avLst/>
          </a:prstGeom>
          <a:solidFill>
            <a:srgbClr val="1A2B4A"/>
          </a:solidFill>
          <a:ln w="12700">
            <a:solidFill>
              <a:srgbClr val="1A2B4A"/>
            </a:solidFill>
            <a:prstDash val="solid"/>
          </a:ln>
        </p:spPr>
      </p:sp>
      <p:sp>
        <p:nvSpPr>
          <p:cNvPr id="22" name="Text 17"/>
          <p:cNvSpPr/>
          <p:nvPr/>
        </p:nvSpPr>
        <p:spPr>
          <a:xfrm>
            <a:off x="4800600" y="3127248"/>
            <a:ext cx="384048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Screen Time vs. Risk</a:t>
            </a:r>
            <a:endParaRPr lang="en-US" sz="1100" dirty="0"/>
          </a:p>
        </p:txBody>
      </p:sp>
      <p:pic>
        <p:nvPicPr>
          <p:cNvPr id="23" name="Image 3" descr="preencoded.png"/>
          <p:cNvPicPr>
            <a:picLocks noChangeAspect="1"/>
          </p:cNvPicPr>
          <p:nvPr/>
        </p:nvPicPr>
        <p:blipFill>
          <a:blip r:embed="rId6"/>
          <a:stretch>
            <a:fillRect/>
          </a:stretch>
        </p:blipFill>
        <p:spPr>
          <a:xfrm>
            <a:off x="4800600" y="3429000"/>
            <a:ext cx="2194560" cy="1389888"/>
          </a:xfrm>
          <a:prstGeom prst="rect">
            <a:avLst/>
          </a:prstGeom>
        </p:spPr>
      </p:pic>
      <p:sp>
        <p:nvSpPr>
          <p:cNvPr id="24" name="Text 18"/>
          <p:cNvSpPr/>
          <p:nvPr/>
        </p:nvSpPr>
        <p:spPr>
          <a:xfrm>
            <a:off x="7086600" y="3474720"/>
            <a:ext cx="1554480" cy="1325880"/>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Screen time closely mirrors work hours — both rise steeply for High-Risk group.</a:t>
            </a:r>
            <a:endParaRPr lang="en-US" sz="900" dirty="0"/>
          </a:p>
        </p:txBody>
      </p:sp>
      <p:sp>
        <p:nvSpPr>
          <p:cNvPr id="25" name="TextBox 24"/>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5 / 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Correlation &amp; Feature Importance</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Text 2"/>
          <p:cNvSpPr/>
          <p:nvPr/>
        </p:nvSpPr>
        <p:spPr>
          <a:xfrm>
            <a:off x="457200" y="868680"/>
            <a:ext cx="502920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Feature Correlation Heatmap</a:t>
            </a:r>
            <a:endParaRPr lang="en-US" sz="1100" dirty="0"/>
          </a:p>
        </p:txBody>
      </p:sp>
      <p:sp>
        <p:nvSpPr>
          <p:cNvPr id="5" name="Shape 3"/>
          <p:cNvSpPr/>
          <p:nvPr/>
        </p:nvSpPr>
        <p:spPr>
          <a:xfrm>
            <a:off x="457200" y="1188720"/>
            <a:ext cx="4572000" cy="347472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tretch>
            <a:fillRect/>
          </a:stretch>
        </p:blipFill>
        <p:spPr>
          <a:xfrm>
            <a:off x="502920" y="1234440"/>
            <a:ext cx="4480560" cy="3383280"/>
          </a:xfrm>
          <a:prstGeom prst="rect">
            <a:avLst/>
          </a:prstGeom>
        </p:spPr>
      </p:pic>
      <p:sp>
        <p:nvSpPr>
          <p:cNvPr id="7" name="Text 4"/>
          <p:cNvSpPr/>
          <p:nvPr/>
        </p:nvSpPr>
        <p:spPr>
          <a:xfrm>
            <a:off x="5257800" y="868680"/>
            <a:ext cx="3474720" cy="2743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Feature Importance (Random Forest)</a:t>
            </a:r>
            <a:endParaRPr lang="en-US" sz="1100" dirty="0"/>
          </a:p>
        </p:txBody>
      </p:sp>
      <p:sp>
        <p:nvSpPr>
          <p:cNvPr id="8" name="Shape 5"/>
          <p:cNvSpPr/>
          <p:nvPr/>
        </p:nvSpPr>
        <p:spPr>
          <a:xfrm>
            <a:off x="5212080" y="1188720"/>
            <a:ext cx="3474720" cy="347472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pic>
        <p:nvPicPr>
          <p:cNvPr id="9" name="Image 1" descr="preencoded.png"/>
          <p:cNvPicPr>
            <a:picLocks noChangeAspect="1"/>
          </p:cNvPicPr>
          <p:nvPr/>
        </p:nvPicPr>
        <p:blipFill>
          <a:blip r:embed="rId4"/>
          <a:stretch>
            <a:fillRect/>
          </a:stretch>
        </p:blipFill>
        <p:spPr>
          <a:xfrm>
            <a:off x="5257800" y="1234440"/>
            <a:ext cx="3383280" cy="3383280"/>
          </a:xfrm>
          <a:prstGeom prst="rect">
            <a:avLst/>
          </a:prstGeom>
        </p:spPr>
      </p:pic>
      <p:sp>
        <p:nvSpPr>
          <p:cNvPr id="10" name="Shape 6"/>
          <p:cNvSpPr/>
          <p:nvPr/>
        </p:nvSpPr>
        <p:spPr>
          <a:xfrm>
            <a:off x="137160" y="4745736"/>
            <a:ext cx="8229600" cy="292608"/>
          </a:xfrm>
          <a:prstGeom prst="rect">
            <a:avLst/>
          </a:prstGeom>
          <a:solidFill>
            <a:srgbClr val="E8F4F4"/>
          </a:solidFill>
          <a:ln w="10160">
            <a:solidFill>
              <a:srgbClr val="0E7C7B"/>
            </a:solidFill>
            <a:prstDash val="solid"/>
          </a:ln>
        </p:spPr>
      </p:sp>
      <p:sp>
        <p:nvSpPr>
          <p:cNvPr id="11" name="Text 7"/>
          <p:cNvSpPr/>
          <p:nvPr/>
        </p:nvSpPr>
        <p:spPr>
          <a:xfrm>
            <a:off x="548640" y="4800600"/>
            <a:ext cx="8046720" cy="237744"/>
          </a:xfrm>
          <a:prstGeom prst="rect">
            <a:avLst/>
          </a:prstGeom>
          <a:noFill/>
          <a:ln/>
        </p:spPr>
        <p:txBody>
          <a:bodyPr wrap="square" rtlCol="0" anchor="ctr"/>
          <a:lstStyle/>
          <a:p>
            <a:pPr marL="0" indent="0">
              <a:buNone/>
            </a:pPr>
            <a:r>
              <a:rPr lang="en-US" sz="900" i="1" dirty="0">
                <a:solidFill>
                  <a:srgbClr val="1A2B4A"/>
                </a:solidFill>
                <a:latin typeface="Calibri" pitchFamily="34" charset="0"/>
                <a:ea typeface="Calibri" pitchFamily="34" charset="-122"/>
                <a:cs typeface="Calibri" pitchFamily="34" charset="-120"/>
              </a:rPr>
              <a:t>fatigue_score (28%)  ·  isolation_index (24%)  ·  sleep_hours (17%)  ·  work_hours (9%)  ·  burnout_score EXCLUDED (data leakage)</a:t>
            </a:r>
            <a:endParaRPr lang="en-US" sz="900" dirty="0"/>
          </a:p>
        </p:txBody>
      </p:sp>
      <p:sp>
        <p:nvSpPr>
          <p:cNvPr id="12" name="TextBox 11"/>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6 /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ML Pipeline — Step by Step</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100584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Shape 3"/>
          <p:cNvSpPr/>
          <p:nvPr/>
        </p:nvSpPr>
        <p:spPr>
          <a:xfrm>
            <a:off x="566928" y="1115568"/>
            <a:ext cx="347472" cy="347472"/>
          </a:xfrm>
          <a:prstGeom prst="ellipse">
            <a:avLst/>
          </a:prstGeom>
          <a:solidFill>
            <a:srgbClr val="0E7C7B"/>
          </a:solidFill>
          <a:ln w="12700">
            <a:solidFill>
              <a:srgbClr val="0E7C7B"/>
            </a:solidFill>
            <a:prstDash val="solid"/>
          </a:ln>
        </p:spPr>
      </p:sp>
      <p:sp>
        <p:nvSpPr>
          <p:cNvPr id="6" name="Text 4"/>
          <p:cNvSpPr/>
          <p:nvPr/>
        </p:nvSpPr>
        <p:spPr>
          <a:xfrm>
            <a:off x="566928" y="1115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987552" y="111556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Data Collection</a:t>
            </a:r>
            <a:endParaRPr lang="en-US" sz="1050" dirty="0"/>
          </a:p>
        </p:txBody>
      </p:sp>
      <p:sp>
        <p:nvSpPr>
          <p:cNvPr id="8" name="Text 6"/>
          <p:cNvSpPr/>
          <p:nvPr/>
        </p:nvSpPr>
        <p:spPr>
          <a:xfrm>
            <a:off x="566928" y="155448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Kaggle · 2,000 rows · 14 columns</a:t>
            </a:r>
            <a:endParaRPr lang="en-US" sz="900" dirty="0"/>
          </a:p>
        </p:txBody>
      </p:sp>
      <p:sp>
        <p:nvSpPr>
          <p:cNvPr id="9" name="Shape 7"/>
          <p:cNvSpPr/>
          <p:nvPr/>
        </p:nvSpPr>
        <p:spPr>
          <a:xfrm>
            <a:off x="2514600" y="1600200"/>
            <a:ext cx="91440" cy="0"/>
          </a:xfrm>
          <a:prstGeom prst="line">
            <a:avLst/>
          </a:prstGeom>
          <a:noFill/>
          <a:ln w="19050">
            <a:solidFill>
              <a:srgbClr val="0E7C7B"/>
            </a:solidFill>
            <a:prstDash val="solid"/>
          </a:ln>
        </p:spPr>
      </p:sp>
      <p:sp>
        <p:nvSpPr>
          <p:cNvPr id="10" name="Shape 8"/>
          <p:cNvSpPr/>
          <p:nvPr/>
        </p:nvSpPr>
        <p:spPr>
          <a:xfrm>
            <a:off x="2606040" y="100584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1" name="Shape 9"/>
          <p:cNvSpPr/>
          <p:nvPr/>
        </p:nvSpPr>
        <p:spPr>
          <a:xfrm>
            <a:off x="2715768" y="1115568"/>
            <a:ext cx="347472" cy="347472"/>
          </a:xfrm>
          <a:prstGeom prst="ellipse">
            <a:avLst/>
          </a:prstGeom>
          <a:solidFill>
            <a:srgbClr val="0E7C7B"/>
          </a:solidFill>
          <a:ln w="12700">
            <a:solidFill>
              <a:srgbClr val="0E7C7B"/>
            </a:solidFill>
            <a:prstDash val="solid"/>
          </a:ln>
        </p:spPr>
      </p:sp>
      <p:sp>
        <p:nvSpPr>
          <p:cNvPr id="12" name="Text 10"/>
          <p:cNvSpPr/>
          <p:nvPr/>
        </p:nvSpPr>
        <p:spPr>
          <a:xfrm>
            <a:off x="2715768" y="1115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3136392" y="111556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Data Cleaning</a:t>
            </a:r>
            <a:endParaRPr lang="en-US" sz="1050" dirty="0"/>
          </a:p>
        </p:txBody>
      </p:sp>
      <p:sp>
        <p:nvSpPr>
          <p:cNvPr id="14" name="Text 12"/>
          <p:cNvSpPr/>
          <p:nvPr/>
        </p:nvSpPr>
        <p:spPr>
          <a:xfrm>
            <a:off x="2715768" y="155448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0 missing · 0 duplicates · verify dtypes</a:t>
            </a:r>
            <a:endParaRPr lang="en-US" sz="900" dirty="0"/>
          </a:p>
        </p:txBody>
      </p:sp>
      <p:sp>
        <p:nvSpPr>
          <p:cNvPr id="15" name="Shape 13"/>
          <p:cNvSpPr/>
          <p:nvPr/>
        </p:nvSpPr>
        <p:spPr>
          <a:xfrm>
            <a:off x="4663440" y="1600200"/>
            <a:ext cx="91440" cy="0"/>
          </a:xfrm>
          <a:prstGeom prst="line">
            <a:avLst/>
          </a:prstGeom>
          <a:noFill/>
          <a:ln w="19050">
            <a:solidFill>
              <a:srgbClr val="0E7C7B"/>
            </a:solidFill>
            <a:prstDash val="solid"/>
          </a:ln>
        </p:spPr>
      </p:sp>
      <p:sp>
        <p:nvSpPr>
          <p:cNvPr id="16" name="Shape 14"/>
          <p:cNvSpPr/>
          <p:nvPr/>
        </p:nvSpPr>
        <p:spPr>
          <a:xfrm>
            <a:off x="4754880" y="100584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7" name="Shape 15"/>
          <p:cNvSpPr/>
          <p:nvPr/>
        </p:nvSpPr>
        <p:spPr>
          <a:xfrm>
            <a:off x="4864608" y="1115568"/>
            <a:ext cx="347472" cy="347472"/>
          </a:xfrm>
          <a:prstGeom prst="ellipse">
            <a:avLst/>
          </a:prstGeom>
          <a:solidFill>
            <a:srgbClr val="0E7C7B"/>
          </a:solidFill>
          <a:ln w="12700">
            <a:solidFill>
              <a:srgbClr val="0E7C7B"/>
            </a:solidFill>
            <a:prstDash val="solid"/>
          </a:ln>
        </p:spPr>
      </p:sp>
      <p:sp>
        <p:nvSpPr>
          <p:cNvPr id="18" name="Text 16"/>
          <p:cNvSpPr/>
          <p:nvPr/>
        </p:nvSpPr>
        <p:spPr>
          <a:xfrm>
            <a:off x="4864608" y="1115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7"/>
          <p:cNvSpPr/>
          <p:nvPr/>
        </p:nvSpPr>
        <p:spPr>
          <a:xfrm>
            <a:off x="5285232" y="111556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Feature Engineering</a:t>
            </a:r>
            <a:endParaRPr lang="en-US" sz="1050" dirty="0"/>
          </a:p>
        </p:txBody>
      </p:sp>
      <p:sp>
        <p:nvSpPr>
          <p:cNvPr id="20" name="Text 18"/>
          <p:cNvSpPr/>
          <p:nvPr/>
        </p:nvSpPr>
        <p:spPr>
          <a:xfrm>
            <a:off x="4864608" y="155448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Encode day_type · Drop burnout_score (leakage)</a:t>
            </a:r>
            <a:endParaRPr lang="en-US" sz="900" dirty="0"/>
          </a:p>
        </p:txBody>
      </p:sp>
      <p:sp>
        <p:nvSpPr>
          <p:cNvPr id="21" name="Shape 19"/>
          <p:cNvSpPr/>
          <p:nvPr/>
        </p:nvSpPr>
        <p:spPr>
          <a:xfrm>
            <a:off x="6812280" y="1600200"/>
            <a:ext cx="91440" cy="0"/>
          </a:xfrm>
          <a:prstGeom prst="line">
            <a:avLst/>
          </a:prstGeom>
          <a:noFill/>
          <a:ln w="19050">
            <a:solidFill>
              <a:srgbClr val="0E7C7B"/>
            </a:solidFill>
            <a:prstDash val="solid"/>
          </a:ln>
        </p:spPr>
      </p:sp>
      <p:sp>
        <p:nvSpPr>
          <p:cNvPr id="22" name="Shape 20"/>
          <p:cNvSpPr/>
          <p:nvPr/>
        </p:nvSpPr>
        <p:spPr>
          <a:xfrm>
            <a:off x="6903720" y="100584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3" name="Shape 21"/>
          <p:cNvSpPr/>
          <p:nvPr/>
        </p:nvSpPr>
        <p:spPr>
          <a:xfrm>
            <a:off x="7013448" y="1115568"/>
            <a:ext cx="347472" cy="347472"/>
          </a:xfrm>
          <a:prstGeom prst="ellipse">
            <a:avLst/>
          </a:prstGeom>
          <a:solidFill>
            <a:srgbClr val="0E7C7B"/>
          </a:solidFill>
          <a:ln w="12700">
            <a:solidFill>
              <a:srgbClr val="0E7C7B"/>
            </a:solidFill>
            <a:prstDash val="solid"/>
          </a:ln>
        </p:spPr>
      </p:sp>
      <p:sp>
        <p:nvSpPr>
          <p:cNvPr id="24" name="Text 22"/>
          <p:cNvSpPr/>
          <p:nvPr/>
        </p:nvSpPr>
        <p:spPr>
          <a:xfrm>
            <a:off x="7013448" y="1115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5" name="Text 23"/>
          <p:cNvSpPr/>
          <p:nvPr/>
        </p:nvSpPr>
        <p:spPr>
          <a:xfrm>
            <a:off x="7434072" y="111556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Class Imbalance</a:t>
            </a:r>
            <a:endParaRPr lang="en-US" sz="1050" dirty="0"/>
          </a:p>
        </p:txBody>
      </p:sp>
      <p:sp>
        <p:nvSpPr>
          <p:cNvPr id="26" name="Text 24"/>
          <p:cNvSpPr/>
          <p:nvPr/>
        </p:nvSpPr>
        <p:spPr>
          <a:xfrm>
            <a:off x="7013448" y="155448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138 High-Risk → class_weight='balanced'</a:t>
            </a:r>
            <a:endParaRPr lang="en-US" sz="900" dirty="0"/>
          </a:p>
        </p:txBody>
      </p:sp>
      <p:sp>
        <p:nvSpPr>
          <p:cNvPr id="27" name="Shape 25"/>
          <p:cNvSpPr/>
          <p:nvPr/>
        </p:nvSpPr>
        <p:spPr>
          <a:xfrm>
            <a:off x="457200" y="242316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8" name="Shape 26"/>
          <p:cNvSpPr/>
          <p:nvPr/>
        </p:nvSpPr>
        <p:spPr>
          <a:xfrm>
            <a:off x="566928" y="2532888"/>
            <a:ext cx="347472" cy="347472"/>
          </a:xfrm>
          <a:prstGeom prst="ellipse">
            <a:avLst/>
          </a:prstGeom>
          <a:solidFill>
            <a:srgbClr val="0E7C7B"/>
          </a:solidFill>
          <a:ln w="12700">
            <a:solidFill>
              <a:srgbClr val="0E7C7B"/>
            </a:solidFill>
            <a:prstDash val="solid"/>
          </a:ln>
        </p:spPr>
      </p:sp>
      <p:sp>
        <p:nvSpPr>
          <p:cNvPr id="29" name="Text 27"/>
          <p:cNvSpPr/>
          <p:nvPr/>
        </p:nvSpPr>
        <p:spPr>
          <a:xfrm>
            <a:off x="566928" y="25328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0" name="Text 28"/>
          <p:cNvSpPr/>
          <p:nvPr/>
        </p:nvSpPr>
        <p:spPr>
          <a:xfrm>
            <a:off x="987552" y="253288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Train / Test Split</a:t>
            </a:r>
            <a:endParaRPr lang="en-US" sz="1050" dirty="0"/>
          </a:p>
        </p:txBody>
      </p:sp>
      <p:sp>
        <p:nvSpPr>
          <p:cNvPr id="31" name="Text 29"/>
          <p:cNvSpPr/>
          <p:nvPr/>
        </p:nvSpPr>
        <p:spPr>
          <a:xfrm>
            <a:off x="566928" y="297180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80% / 20% stratified · 1,600 / 400 rows</a:t>
            </a:r>
            <a:endParaRPr lang="en-US" sz="900" dirty="0"/>
          </a:p>
        </p:txBody>
      </p:sp>
      <p:sp>
        <p:nvSpPr>
          <p:cNvPr id="32" name="Shape 30"/>
          <p:cNvSpPr/>
          <p:nvPr/>
        </p:nvSpPr>
        <p:spPr>
          <a:xfrm>
            <a:off x="2514600" y="3017520"/>
            <a:ext cx="91440" cy="0"/>
          </a:xfrm>
          <a:prstGeom prst="line">
            <a:avLst/>
          </a:prstGeom>
          <a:noFill/>
          <a:ln w="19050">
            <a:solidFill>
              <a:srgbClr val="0E7C7B"/>
            </a:solidFill>
            <a:prstDash val="solid"/>
          </a:ln>
        </p:spPr>
      </p:sp>
      <p:sp>
        <p:nvSpPr>
          <p:cNvPr id="33" name="Shape 31"/>
          <p:cNvSpPr/>
          <p:nvPr/>
        </p:nvSpPr>
        <p:spPr>
          <a:xfrm>
            <a:off x="2606040" y="242316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34" name="Shape 32"/>
          <p:cNvSpPr/>
          <p:nvPr/>
        </p:nvSpPr>
        <p:spPr>
          <a:xfrm>
            <a:off x="2715768" y="2532888"/>
            <a:ext cx="347472" cy="347472"/>
          </a:xfrm>
          <a:prstGeom prst="ellipse">
            <a:avLst/>
          </a:prstGeom>
          <a:solidFill>
            <a:srgbClr val="0E7C7B"/>
          </a:solidFill>
          <a:ln w="12700">
            <a:solidFill>
              <a:srgbClr val="0E7C7B"/>
            </a:solidFill>
            <a:prstDash val="solid"/>
          </a:ln>
        </p:spPr>
      </p:sp>
      <p:sp>
        <p:nvSpPr>
          <p:cNvPr id="35" name="Text 33"/>
          <p:cNvSpPr/>
          <p:nvPr/>
        </p:nvSpPr>
        <p:spPr>
          <a:xfrm>
            <a:off x="2715768" y="25328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6" name="Text 34"/>
          <p:cNvSpPr/>
          <p:nvPr/>
        </p:nvSpPr>
        <p:spPr>
          <a:xfrm>
            <a:off x="3136392" y="253288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Feature Scaling</a:t>
            </a:r>
            <a:endParaRPr lang="en-US" sz="1050" dirty="0"/>
          </a:p>
        </p:txBody>
      </p:sp>
      <p:sp>
        <p:nvSpPr>
          <p:cNvPr id="37" name="Text 35"/>
          <p:cNvSpPr/>
          <p:nvPr/>
        </p:nvSpPr>
        <p:spPr>
          <a:xfrm>
            <a:off x="2715768" y="297180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StandardScaler for Logistic Regression</a:t>
            </a:r>
            <a:endParaRPr lang="en-US" sz="900" dirty="0"/>
          </a:p>
        </p:txBody>
      </p:sp>
      <p:sp>
        <p:nvSpPr>
          <p:cNvPr id="38" name="Shape 36"/>
          <p:cNvSpPr/>
          <p:nvPr/>
        </p:nvSpPr>
        <p:spPr>
          <a:xfrm>
            <a:off x="4663440" y="3017520"/>
            <a:ext cx="91440" cy="0"/>
          </a:xfrm>
          <a:prstGeom prst="line">
            <a:avLst/>
          </a:prstGeom>
          <a:noFill/>
          <a:ln w="19050">
            <a:solidFill>
              <a:srgbClr val="0E7C7B"/>
            </a:solidFill>
            <a:prstDash val="solid"/>
          </a:ln>
        </p:spPr>
      </p:sp>
      <p:sp>
        <p:nvSpPr>
          <p:cNvPr id="39" name="Shape 37"/>
          <p:cNvSpPr/>
          <p:nvPr/>
        </p:nvSpPr>
        <p:spPr>
          <a:xfrm>
            <a:off x="4754880" y="242316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40" name="Shape 38"/>
          <p:cNvSpPr/>
          <p:nvPr/>
        </p:nvSpPr>
        <p:spPr>
          <a:xfrm>
            <a:off x="4864608" y="2532888"/>
            <a:ext cx="347472" cy="347472"/>
          </a:xfrm>
          <a:prstGeom prst="ellipse">
            <a:avLst/>
          </a:prstGeom>
          <a:solidFill>
            <a:srgbClr val="0E7C7B"/>
          </a:solidFill>
          <a:ln w="12700">
            <a:solidFill>
              <a:srgbClr val="0E7C7B"/>
            </a:solidFill>
            <a:prstDash val="solid"/>
          </a:ln>
        </p:spPr>
      </p:sp>
      <p:sp>
        <p:nvSpPr>
          <p:cNvPr id="41" name="Text 39"/>
          <p:cNvSpPr/>
          <p:nvPr/>
        </p:nvSpPr>
        <p:spPr>
          <a:xfrm>
            <a:off x="4864608" y="25328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42" name="Text 40"/>
          <p:cNvSpPr/>
          <p:nvPr/>
        </p:nvSpPr>
        <p:spPr>
          <a:xfrm>
            <a:off x="5285232" y="253288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Train 3 Models</a:t>
            </a:r>
            <a:endParaRPr lang="en-US" sz="1050" dirty="0"/>
          </a:p>
        </p:txBody>
      </p:sp>
      <p:sp>
        <p:nvSpPr>
          <p:cNvPr id="43" name="Text 41"/>
          <p:cNvSpPr/>
          <p:nvPr/>
        </p:nvSpPr>
        <p:spPr>
          <a:xfrm>
            <a:off x="4864608" y="297180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Decision Tree · Random Forest · Logistic Reg.</a:t>
            </a:r>
            <a:endParaRPr lang="en-US" sz="900" dirty="0"/>
          </a:p>
        </p:txBody>
      </p:sp>
      <p:sp>
        <p:nvSpPr>
          <p:cNvPr id="44" name="Shape 42"/>
          <p:cNvSpPr/>
          <p:nvPr/>
        </p:nvSpPr>
        <p:spPr>
          <a:xfrm>
            <a:off x="6812280" y="3017520"/>
            <a:ext cx="91440" cy="0"/>
          </a:xfrm>
          <a:prstGeom prst="line">
            <a:avLst/>
          </a:prstGeom>
          <a:noFill/>
          <a:ln w="19050">
            <a:solidFill>
              <a:srgbClr val="0E7C7B"/>
            </a:solidFill>
            <a:prstDash val="solid"/>
          </a:ln>
        </p:spPr>
      </p:sp>
      <p:sp>
        <p:nvSpPr>
          <p:cNvPr id="45" name="Shape 43"/>
          <p:cNvSpPr/>
          <p:nvPr/>
        </p:nvSpPr>
        <p:spPr>
          <a:xfrm>
            <a:off x="6903720" y="2423160"/>
            <a:ext cx="2011680" cy="123444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46" name="Shape 44"/>
          <p:cNvSpPr/>
          <p:nvPr/>
        </p:nvSpPr>
        <p:spPr>
          <a:xfrm>
            <a:off x="7013448" y="2532888"/>
            <a:ext cx="347472" cy="347472"/>
          </a:xfrm>
          <a:prstGeom prst="ellipse">
            <a:avLst/>
          </a:prstGeom>
          <a:solidFill>
            <a:srgbClr val="0E7C7B"/>
          </a:solidFill>
          <a:ln w="12700">
            <a:solidFill>
              <a:srgbClr val="0E7C7B"/>
            </a:solidFill>
            <a:prstDash val="solid"/>
          </a:ln>
        </p:spPr>
      </p:sp>
      <p:sp>
        <p:nvSpPr>
          <p:cNvPr id="47" name="Text 45"/>
          <p:cNvSpPr/>
          <p:nvPr/>
        </p:nvSpPr>
        <p:spPr>
          <a:xfrm>
            <a:off x="7013448" y="25328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8</a:t>
            </a:r>
            <a:endParaRPr lang="en-US" sz="1300" dirty="0"/>
          </a:p>
        </p:txBody>
      </p:sp>
      <p:sp>
        <p:nvSpPr>
          <p:cNvPr id="48" name="Text 46"/>
          <p:cNvSpPr/>
          <p:nvPr/>
        </p:nvSpPr>
        <p:spPr>
          <a:xfrm>
            <a:off x="7434072" y="2532888"/>
            <a:ext cx="1371600" cy="256032"/>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Evaluate &amp; Deploy</a:t>
            </a:r>
            <a:endParaRPr lang="en-US" sz="1050" dirty="0"/>
          </a:p>
        </p:txBody>
      </p:sp>
      <p:sp>
        <p:nvSpPr>
          <p:cNvPr id="49" name="Text 47"/>
          <p:cNvSpPr/>
          <p:nvPr/>
        </p:nvSpPr>
        <p:spPr>
          <a:xfrm>
            <a:off x="7013448" y="2971800"/>
            <a:ext cx="1828800" cy="566928"/>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Best model saved with joblib → Streamlit app</a:t>
            </a:r>
            <a:endParaRPr lang="en-US" sz="900" dirty="0"/>
          </a:p>
        </p:txBody>
      </p:sp>
      <p:sp>
        <p:nvSpPr>
          <p:cNvPr id="50" name="Shape 48"/>
          <p:cNvSpPr/>
          <p:nvPr/>
        </p:nvSpPr>
        <p:spPr>
          <a:xfrm>
            <a:off x="152400" y="4645152"/>
            <a:ext cx="8229600" cy="347472"/>
          </a:xfrm>
          <a:prstGeom prst="rect">
            <a:avLst/>
          </a:prstGeom>
          <a:solidFill>
            <a:srgbClr val="E8F4F4"/>
          </a:solidFill>
          <a:ln w="10160">
            <a:solidFill>
              <a:srgbClr val="DC2626"/>
            </a:solidFill>
            <a:prstDash val="solid"/>
          </a:ln>
        </p:spPr>
      </p:sp>
      <p:sp>
        <p:nvSpPr>
          <p:cNvPr id="51" name="Text 49"/>
          <p:cNvSpPr/>
          <p:nvPr/>
        </p:nvSpPr>
        <p:spPr>
          <a:xfrm>
            <a:off x="594360" y="4654296"/>
            <a:ext cx="7955280" cy="274320"/>
          </a:xfrm>
          <a:prstGeom prst="rect">
            <a:avLst/>
          </a:prstGeom>
          <a:noFill/>
          <a:ln/>
        </p:spPr>
        <p:txBody>
          <a:bodyPr wrap="square" rtlCol="0" anchor="ctr"/>
          <a:lstStyle/>
          <a:p>
            <a:pPr marL="0" indent="0">
              <a:buNone/>
            </a:pPr>
            <a:r>
              <a:rPr lang="en-US" sz="950" i="1" dirty="0">
                <a:solidFill>
                  <a:srgbClr val="1A2B4A"/>
                </a:solidFill>
                <a:latin typeface="Calibri" pitchFamily="34" charset="0"/>
                <a:ea typeface="Calibri" pitchFamily="34" charset="-122"/>
                <a:cs typeface="Calibri" pitchFamily="34" charset="-120"/>
              </a:rPr>
              <a:t>⚠️  Key decision: burnout_score removed — correlation 0.90 with fatigue_score and near-perfect with target = data leakage confirmed by heatmap</a:t>
            </a:r>
            <a:endParaRPr lang="en-US" sz="950" dirty="0"/>
          </a:p>
        </p:txBody>
      </p:sp>
      <p:sp>
        <p:nvSpPr>
          <p:cNvPr id="52" name="TextBox 51"/>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7 / 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Models Tried</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Text 2"/>
          <p:cNvSpPr/>
          <p:nvPr/>
        </p:nvSpPr>
        <p:spPr>
          <a:xfrm>
            <a:off x="457200" y="822960"/>
            <a:ext cx="8229600" cy="27432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Three models — same 80/20 stratified split (400-sample test set)</a:t>
            </a:r>
            <a:endParaRPr lang="en-US" sz="1100" dirty="0"/>
          </a:p>
        </p:txBody>
      </p:sp>
      <p:sp>
        <p:nvSpPr>
          <p:cNvPr id="5" name="Shape 3"/>
          <p:cNvSpPr/>
          <p:nvPr/>
        </p:nvSpPr>
        <p:spPr>
          <a:xfrm>
            <a:off x="457200" y="1188720"/>
            <a:ext cx="2697480" cy="3703320"/>
          </a:xfrm>
          <a:prstGeom prst="rect">
            <a:avLst/>
          </a:prstGeom>
          <a:solidFill>
            <a:srgbClr val="FFFFFF"/>
          </a:solidFill>
          <a:ln w="10160">
            <a:solidFill>
              <a:srgbClr val="D1D5DB"/>
            </a:solidFill>
            <a:prstDash val="solid"/>
          </a:ln>
          <a:effectLst>
            <a:outerShdw blurRad="101600" dist="38100" dir="8100000" algn="bl" rotWithShape="0">
              <a:srgbClr val="000000">
                <a:alpha val="7000"/>
              </a:srgbClr>
            </a:outerShdw>
          </a:effectLst>
        </p:spPr>
      </p:sp>
      <p:sp>
        <p:nvSpPr>
          <p:cNvPr id="6" name="Shape 4"/>
          <p:cNvSpPr/>
          <p:nvPr/>
        </p:nvSpPr>
        <p:spPr>
          <a:xfrm>
            <a:off x="457200" y="1188720"/>
            <a:ext cx="2697480" cy="347472"/>
          </a:xfrm>
          <a:prstGeom prst="rect">
            <a:avLst/>
          </a:prstGeom>
          <a:solidFill>
            <a:srgbClr val="1A2B4A"/>
          </a:solidFill>
          <a:ln w="12700">
            <a:solidFill>
              <a:srgbClr val="1A2B4A"/>
            </a:solidFill>
            <a:prstDash val="solid"/>
          </a:ln>
        </p:spPr>
      </p:sp>
      <p:sp>
        <p:nvSpPr>
          <p:cNvPr id="7" name="Text 5"/>
          <p:cNvSpPr/>
          <p:nvPr/>
        </p:nvSpPr>
        <p:spPr>
          <a:xfrm>
            <a:off x="457200" y="1188720"/>
            <a:ext cx="26974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Baseline</a:t>
            </a:r>
            <a:endParaRPr lang="en-US" sz="1100" dirty="0"/>
          </a:p>
        </p:txBody>
      </p:sp>
      <p:sp>
        <p:nvSpPr>
          <p:cNvPr id="8" name="Text 6"/>
          <p:cNvSpPr/>
          <p:nvPr/>
        </p:nvSpPr>
        <p:spPr>
          <a:xfrm>
            <a:off x="548640" y="1609344"/>
            <a:ext cx="2514600" cy="411480"/>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Decision Tree</a:t>
            </a:r>
            <a:endParaRPr lang="en-US" sz="1400" dirty="0"/>
          </a:p>
        </p:txBody>
      </p:sp>
      <p:sp>
        <p:nvSpPr>
          <p:cNvPr id="9" name="Shape 7"/>
          <p:cNvSpPr/>
          <p:nvPr/>
        </p:nvSpPr>
        <p:spPr>
          <a:xfrm>
            <a:off x="822960" y="2084832"/>
            <a:ext cx="1965960" cy="475488"/>
          </a:xfrm>
          <a:prstGeom prst="rect">
            <a:avLst/>
          </a:prstGeom>
          <a:solidFill>
            <a:srgbClr val="E8F4F4"/>
          </a:solidFill>
          <a:ln w="12700">
            <a:solidFill>
              <a:srgbClr val="D1D5DB"/>
            </a:solidFill>
            <a:prstDash val="solid"/>
          </a:ln>
        </p:spPr>
      </p:sp>
      <p:sp>
        <p:nvSpPr>
          <p:cNvPr id="10" name="Text 8"/>
          <p:cNvSpPr/>
          <p:nvPr/>
        </p:nvSpPr>
        <p:spPr>
          <a:xfrm>
            <a:off x="822960" y="2103120"/>
            <a:ext cx="1965960" cy="420624"/>
          </a:xfrm>
          <a:prstGeom prst="rect">
            <a:avLst/>
          </a:prstGeom>
          <a:noFill/>
          <a:ln/>
        </p:spPr>
        <p:txBody>
          <a:bodyPr wrap="square" rtlCol="0" anchor="ctr"/>
          <a:lstStyle/>
          <a:p>
            <a:pPr marL="0" indent="0" algn="ctr">
              <a:buNone/>
            </a:pPr>
            <a:r>
              <a:rPr lang="en-US" sz="950" b="1" dirty="0">
                <a:solidFill>
                  <a:srgbClr val="1A2B4A"/>
                </a:solidFill>
                <a:latin typeface="Calibri" pitchFamily="34" charset="0"/>
                <a:ea typeface="Calibri" pitchFamily="34" charset="-122"/>
                <a:cs typeface="Calibri" pitchFamily="34" charset="-120"/>
              </a:rPr>
              <a:t>Accuracy: 93.25%  |  F1: 0.91</a:t>
            </a:r>
            <a:endParaRPr lang="en-US" sz="950" dirty="0"/>
          </a:p>
        </p:txBody>
      </p:sp>
      <p:sp>
        <p:nvSpPr>
          <p:cNvPr id="11" name="Text 9"/>
          <p:cNvSpPr/>
          <p:nvPr/>
        </p:nvSpPr>
        <p:spPr>
          <a:xfrm>
            <a:off x="594360" y="2651760"/>
            <a:ext cx="2423160" cy="237744"/>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Strengths</a:t>
            </a:r>
            <a:endParaRPr lang="en-US" sz="1000" dirty="0"/>
          </a:p>
        </p:txBody>
      </p:sp>
      <p:sp>
        <p:nvSpPr>
          <p:cNvPr id="12" name="Text 10"/>
          <p:cNvSpPr/>
          <p:nvPr/>
        </p:nvSpPr>
        <p:spPr>
          <a:xfrm>
            <a:off x="594360" y="2907792"/>
            <a:ext cx="2423160" cy="8229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Simple &amp; interpretable</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No scaling needed</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Good starting floor</a:t>
            </a:r>
            <a:endParaRPr lang="en-US" sz="950" dirty="0"/>
          </a:p>
        </p:txBody>
      </p:sp>
      <p:sp>
        <p:nvSpPr>
          <p:cNvPr id="13" name="Text 11"/>
          <p:cNvSpPr/>
          <p:nvPr/>
        </p:nvSpPr>
        <p:spPr>
          <a:xfrm>
            <a:off x="594360" y="3767328"/>
            <a:ext cx="2423160" cy="237744"/>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Weaknesses</a:t>
            </a:r>
            <a:endParaRPr lang="en-US" sz="1000" dirty="0"/>
          </a:p>
        </p:txBody>
      </p:sp>
      <p:sp>
        <p:nvSpPr>
          <p:cNvPr id="14" name="Text 12"/>
          <p:cNvSpPr/>
          <p:nvPr/>
        </p:nvSpPr>
        <p:spPr>
          <a:xfrm>
            <a:off x="594360" y="4023360"/>
            <a:ext cx="2423160" cy="5943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Prone to overfitting</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Less stable on new data</a:t>
            </a:r>
            <a:endParaRPr lang="en-US" sz="950" dirty="0"/>
          </a:p>
        </p:txBody>
      </p:sp>
      <p:sp>
        <p:nvSpPr>
          <p:cNvPr id="15" name="Shape 13"/>
          <p:cNvSpPr/>
          <p:nvPr/>
        </p:nvSpPr>
        <p:spPr>
          <a:xfrm>
            <a:off x="3310128" y="1188720"/>
            <a:ext cx="2697480" cy="3703320"/>
          </a:xfrm>
          <a:prstGeom prst="rect">
            <a:avLst/>
          </a:prstGeom>
          <a:solidFill>
            <a:srgbClr val="FFFFFF"/>
          </a:solidFill>
          <a:ln w="10160">
            <a:solidFill>
              <a:srgbClr val="D1D5DB"/>
            </a:solidFill>
            <a:prstDash val="solid"/>
          </a:ln>
          <a:effectLst>
            <a:outerShdw blurRad="101600" dist="38100" dir="8100000" algn="bl" rotWithShape="0">
              <a:srgbClr val="000000">
                <a:alpha val="7000"/>
              </a:srgbClr>
            </a:outerShdw>
          </a:effectLst>
        </p:spPr>
      </p:sp>
      <p:sp>
        <p:nvSpPr>
          <p:cNvPr id="16" name="Shape 14"/>
          <p:cNvSpPr/>
          <p:nvPr/>
        </p:nvSpPr>
        <p:spPr>
          <a:xfrm>
            <a:off x="3310128" y="1188720"/>
            <a:ext cx="2697480" cy="347472"/>
          </a:xfrm>
          <a:prstGeom prst="rect">
            <a:avLst/>
          </a:prstGeom>
          <a:solidFill>
            <a:srgbClr val="1A2B4A"/>
          </a:solidFill>
          <a:ln w="12700">
            <a:solidFill>
              <a:srgbClr val="1A2B4A"/>
            </a:solidFill>
            <a:prstDash val="solid"/>
          </a:ln>
        </p:spPr>
      </p:sp>
      <p:sp>
        <p:nvSpPr>
          <p:cNvPr id="17" name="Text 15"/>
          <p:cNvSpPr/>
          <p:nvPr/>
        </p:nvSpPr>
        <p:spPr>
          <a:xfrm>
            <a:off x="3310128" y="1188720"/>
            <a:ext cx="26974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Ensemble</a:t>
            </a:r>
            <a:endParaRPr lang="en-US" sz="1100" dirty="0"/>
          </a:p>
        </p:txBody>
      </p:sp>
      <p:sp>
        <p:nvSpPr>
          <p:cNvPr id="18" name="Text 16"/>
          <p:cNvSpPr/>
          <p:nvPr/>
        </p:nvSpPr>
        <p:spPr>
          <a:xfrm>
            <a:off x="3401568" y="1609344"/>
            <a:ext cx="2514600" cy="411480"/>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Random Forest</a:t>
            </a:r>
            <a:endParaRPr lang="en-US" sz="1400" dirty="0"/>
          </a:p>
        </p:txBody>
      </p:sp>
      <p:sp>
        <p:nvSpPr>
          <p:cNvPr id="19" name="Shape 17"/>
          <p:cNvSpPr/>
          <p:nvPr/>
        </p:nvSpPr>
        <p:spPr>
          <a:xfrm>
            <a:off x="3675888" y="2084832"/>
            <a:ext cx="1965960" cy="475488"/>
          </a:xfrm>
          <a:prstGeom prst="rect">
            <a:avLst/>
          </a:prstGeom>
          <a:solidFill>
            <a:srgbClr val="E8F4F4"/>
          </a:solidFill>
          <a:ln w="12700">
            <a:solidFill>
              <a:srgbClr val="D1D5DB"/>
            </a:solidFill>
            <a:prstDash val="solid"/>
          </a:ln>
        </p:spPr>
      </p:sp>
      <p:sp>
        <p:nvSpPr>
          <p:cNvPr id="20" name="Text 18"/>
          <p:cNvSpPr/>
          <p:nvPr/>
        </p:nvSpPr>
        <p:spPr>
          <a:xfrm>
            <a:off x="3675888" y="2103120"/>
            <a:ext cx="1965960" cy="420624"/>
          </a:xfrm>
          <a:prstGeom prst="rect">
            <a:avLst/>
          </a:prstGeom>
          <a:noFill/>
          <a:ln/>
        </p:spPr>
        <p:txBody>
          <a:bodyPr wrap="square" rtlCol="0" anchor="ctr"/>
          <a:lstStyle/>
          <a:p>
            <a:pPr marL="0" indent="0" algn="ctr">
              <a:buNone/>
            </a:pPr>
            <a:r>
              <a:rPr lang="en-US" sz="950" b="1" dirty="0">
                <a:solidFill>
                  <a:srgbClr val="1A2B4A"/>
                </a:solidFill>
                <a:latin typeface="Calibri" pitchFamily="34" charset="0"/>
                <a:ea typeface="Calibri" pitchFamily="34" charset="-122"/>
                <a:cs typeface="Calibri" pitchFamily="34" charset="-120"/>
              </a:rPr>
              <a:t>Accuracy: 97.00%  |  F1: 0.94</a:t>
            </a:r>
            <a:endParaRPr lang="en-US" sz="950" dirty="0"/>
          </a:p>
        </p:txBody>
      </p:sp>
      <p:sp>
        <p:nvSpPr>
          <p:cNvPr id="21" name="Text 19"/>
          <p:cNvSpPr/>
          <p:nvPr/>
        </p:nvSpPr>
        <p:spPr>
          <a:xfrm>
            <a:off x="3447288" y="2651760"/>
            <a:ext cx="2423160" cy="237744"/>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Strengths</a:t>
            </a:r>
            <a:endParaRPr lang="en-US" sz="1000" dirty="0"/>
          </a:p>
        </p:txBody>
      </p:sp>
      <p:sp>
        <p:nvSpPr>
          <p:cNvPr id="22" name="Text 20"/>
          <p:cNvSpPr/>
          <p:nvPr/>
        </p:nvSpPr>
        <p:spPr>
          <a:xfrm>
            <a:off x="3447288" y="2907792"/>
            <a:ext cx="2423160" cy="8229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Strong performance</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Handles non-linearity</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Built-in feature importance</a:t>
            </a:r>
            <a:endParaRPr lang="en-US" sz="950" dirty="0"/>
          </a:p>
        </p:txBody>
      </p:sp>
      <p:sp>
        <p:nvSpPr>
          <p:cNvPr id="23" name="Text 21"/>
          <p:cNvSpPr/>
          <p:nvPr/>
        </p:nvSpPr>
        <p:spPr>
          <a:xfrm>
            <a:off x="3447288" y="3767328"/>
            <a:ext cx="2423160" cy="237744"/>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Weaknesses</a:t>
            </a:r>
            <a:endParaRPr lang="en-US" sz="1000" dirty="0"/>
          </a:p>
        </p:txBody>
      </p:sp>
      <p:sp>
        <p:nvSpPr>
          <p:cNvPr id="24" name="Text 22"/>
          <p:cNvSpPr/>
          <p:nvPr/>
        </p:nvSpPr>
        <p:spPr>
          <a:xfrm>
            <a:off x="3447288" y="4023360"/>
            <a:ext cx="2423160" cy="5943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Slower inference</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Less interpretable</a:t>
            </a:r>
            <a:endParaRPr lang="en-US" sz="950" dirty="0"/>
          </a:p>
        </p:txBody>
      </p:sp>
      <p:sp>
        <p:nvSpPr>
          <p:cNvPr id="25" name="Shape 23"/>
          <p:cNvSpPr/>
          <p:nvPr/>
        </p:nvSpPr>
        <p:spPr>
          <a:xfrm>
            <a:off x="6163056" y="1188720"/>
            <a:ext cx="2697480" cy="3703320"/>
          </a:xfrm>
          <a:prstGeom prst="rect">
            <a:avLst/>
          </a:prstGeom>
          <a:solidFill>
            <a:srgbClr val="FFFFFF"/>
          </a:solidFill>
          <a:ln w="25400">
            <a:solidFill>
              <a:srgbClr val="F59E0B"/>
            </a:solidFill>
            <a:prstDash val="solid"/>
          </a:ln>
          <a:effectLst>
            <a:outerShdw blurRad="101600" dist="38100" dir="8100000" algn="bl" rotWithShape="0">
              <a:srgbClr val="000000">
                <a:alpha val="15000"/>
              </a:srgbClr>
            </a:outerShdw>
          </a:effectLst>
        </p:spPr>
      </p:sp>
      <p:sp>
        <p:nvSpPr>
          <p:cNvPr id="26" name="Shape 24"/>
          <p:cNvSpPr/>
          <p:nvPr/>
        </p:nvSpPr>
        <p:spPr>
          <a:xfrm>
            <a:off x="6163056" y="1188720"/>
            <a:ext cx="2697480" cy="347472"/>
          </a:xfrm>
          <a:prstGeom prst="rect">
            <a:avLst/>
          </a:prstGeom>
          <a:solidFill>
            <a:srgbClr val="F59E0B"/>
          </a:solidFill>
          <a:ln w="12700">
            <a:solidFill>
              <a:srgbClr val="F59E0B"/>
            </a:solidFill>
            <a:prstDash val="solid"/>
          </a:ln>
        </p:spPr>
      </p:sp>
      <p:sp>
        <p:nvSpPr>
          <p:cNvPr id="27" name="Text 25"/>
          <p:cNvSpPr/>
          <p:nvPr/>
        </p:nvSpPr>
        <p:spPr>
          <a:xfrm>
            <a:off x="6163056" y="1188720"/>
            <a:ext cx="26974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WINNER</a:t>
            </a:r>
            <a:endParaRPr lang="en-US" sz="1100" dirty="0"/>
          </a:p>
        </p:txBody>
      </p:sp>
      <p:sp>
        <p:nvSpPr>
          <p:cNvPr id="28" name="Text 26"/>
          <p:cNvSpPr/>
          <p:nvPr/>
        </p:nvSpPr>
        <p:spPr>
          <a:xfrm>
            <a:off x="6254496" y="1609344"/>
            <a:ext cx="2514600" cy="411480"/>
          </a:xfrm>
          <a:prstGeom prst="rect">
            <a:avLst/>
          </a:prstGeom>
          <a:noFill/>
          <a:ln/>
        </p:spPr>
        <p:txBody>
          <a:bodyPr wrap="square" rtlCol="0" anchor="ctr"/>
          <a:lstStyle/>
          <a:p>
            <a:pPr marL="0" indent="0" algn="ctr">
              <a:buNone/>
            </a:pPr>
            <a:r>
              <a:rPr lang="en-US" sz="1400" b="1" dirty="0">
                <a:solidFill>
                  <a:srgbClr val="1A2B4A"/>
                </a:solidFill>
                <a:latin typeface="Calibri" pitchFamily="34" charset="0"/>
                <a:ea typeface="Calibri" pitchFamily="34" charset="-122"/>
                <a:cs typeface="Calibri" pitchFamily="34" charset="-120"/>
              </a:rPr>
              <a:t>Logistic Regression</a:t>
            </a:r>
            <a:endParaRPr lang="en-US" sz="1400" dirty="0"/>
          </a:p>
        </p:txBody>
      </p:sp>
      <p:sp>
        <p:nvSpPr>
          <p:cNvPr id="29" name="Shape 27"/>
          <p:cNvSpPr/>
          <p:nvPr/>
        </p:nvSpPr>
        <p:spPr>
          <a:xfrm>
            <a:off x="6528816" y="2084832"/>
            <a:ext cx="1965960" cy="475488"/>
          </a:xfrm>
          <a:prstGeom prst="rect">
            <a:avLst/>
          </a:prstGeom>
          <a:solidFill>
            <a:srgbClr val="E8F4F4"/>
          </a:solidFill>
          <a:ln w="12700">
            <a:solidFill>
              <a:srgbClr val="D1D5DB"/>
            </a:solidFill>
            <a:prstDash val="solid"/>
          </a:ln>
        </p:spPr>
      </p:sp>
      <p:sp>
        <p:nvSpPr>
          <p:cNvPr id="30" name="Text 28"/>
          <p:cNvSpPr/>
          <p:nvPr/>
        </p:nvSpPr>
        <p:spPr>
          <a:xfrm>
            <a:off x="6528816" y="2103120"/>
            <a:ext cx="1965960" cy="420624"/>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Accuracy: 97.50%  |  F1: 0.96</a:t>
            </a:r>
            <a:endParaRPr lang="en-US" sz="950" dirty="0"/>
          </a:p>
        </p:txBody>
      </p:sp>
      <p:sp>
        <p:nvSpPr>
          <p:cNvPr id="31" name="Text 29"/>
          <p:cNvSpPr/>
          <p:nvPr/>
        </p:nvSpPr>
        <p:spPr>
          <a:xfrm>
            <a:off x="6300216" y="2651760"/>
            <a:ext cx="2423160" cy="237744"/>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Strengths</a:t>
            </a:r>
            <a:endParaRPr lang="en-US" sz="1000" dirty="0"/>
          </a:p>
        </p:txBody>
      </p:sp>
      <p:sp>
        <p:nvSpPr>
          <p:cNvPr id="32" name="Text 30"/>
          <p:cNvSpPr/>
          <p:nvPr/>
        </p:nvSpPr>
        <p:spPr>
          <a:xfrm>
            <a:off x="6300216" y="2907792"/>
            <a:ext cx="2423160" cy="8229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Highest accuracy</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Best F1 &amp; macro avg</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Fast &amp; interpretable</a:t>
            </a:r>
            <a:endParaRPr lang="en-US" sz="950" dirty="0"/>
          </a:p>
        </p:txBody>
      </p:sp>
      <p:sp>
        <p:nvSpPr>
          <p:cNvPr id="33" name="Text 31"/>
          <p:cNvSpPr/>
          <p:nvPr/>
        </p:nvSpPr>
        <p:spPr>
          <a:xfrm>
            <a:off x="6300216" y="3767328"/>
            <a:ext cx="2423160" cy="237744"/>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Weaknesses</a:t>
            </a:r>
            <a:endParaRPr lang="en-US" sz="1000" dirty="0"/>
          </a:p>
        </p:txBody>
      </p:sp>
      <p:sp>
        <p:nvSpPr>
          <p:cNvPr id="34" name="Text 32"/>
          <p:cNvSpPr/>
          <p:nvPr/>
        </p:nvSpPr>
        <p:spPr>
          <a:xfrm>
            <a:off x="6300216" y="4023360"/>
            <a:ext cx="2423160" cy="594360"/>
          </a:xfrm>
          <a:prstGeom prst="rect">
            <a:avLst/>
          </a:prstGeom>
          <a:noFill/>
          <a:ln/>
        </p:spPr>
        <p:txBody>
          <a:bodyPr wrap="square" rtlCol="0" anchor="ctr"/>
          <a:lstStyle/>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Assumes linear boundary</a:t>
            </a:r>
            <a:endParaRPr lang="en-US" sz="950" dirty="0"/>
          </a:p>
          <a:p>
            <a:pPr marL="342900" indent="-342900">
              <a:buSzPct val="100000"/>
              <a:buChar char="•"/>
            </a:pPr>
            <a:r>
              <a:rPr lang="en-US" sz="950" dirty="0">
                <a:solidFill>
                  <a:srgbClr val="475569"/>
                </a:solidFill>
                <a:latin typeface="Calibri" pitchFamily="34" charset="0"/>
                <a:ea typeface="Calibri" pitchFamily="34" charset="-122"/>
                <a:cs typeface="Calibri" pitchFamily="34" charset="-120"/>
              </a:rPr>
              <a:t>Needs scaled features</a:t>
            </a:r>
            <a:endParaRPr lang="en-US" sz="950" dirty="0"/>
          </a:p>
        </p:txBody>
      </p:sp>
      <p:sp>
        <p:nvSpPr>
          <p:cNvPr id="35" name="Shape 33"/>
          <p:cNvSpPr/>
          <p:nvPr/>
        </p:nvSpPr>
        <p:spPr>
          <a:xfrm>
            <a:off x="6821424" y="4645152"/>
            <a:ext cx="1371600" cy="219456"/>
          </a:xfrm>
          <a:prstGeom prst="ellipse">
            <a:avLst/>
          </a:prstGeom>
          <a:solidFill>
            <a:srgbClr val="F59E0B"/>
          </a:solidFill>
          <a:ln w="12700">
            <a:solidFill>
              <a:srgbClr val="F59E0B"/>
            </a:solidFill>
            <a:prstDash val="solid"/>
          </a:ln>
        </p:spPr>
      </p:sp>
      <p:sp>
        <p:nvSpPr>
          <p:cNvPr id="36" name="Text 34"/>
          <p:cNvSpPr/>
          <p:nvPr/>
        </p:nvSpPr>
        <p:spPr>
          <a:xfrm>
            <a:off x="6821424" y="4645152"/>
            <a:ext cx="1371600" cy="219456"/>
          </a:xfrm>
          <a:prstGeom prst="rect">
            <a:avLst/>
          </a:prstGeom>
          <a:noFill/>
          <a:ln/>
        </p:spPr>
        <p:txBody>
          <a:bodyPr wrap="square" lIns="0" tIns="0" rIns="0" bIns="0" rtlCol="0" anchor="ctr"/>
          <a:lstStyle/>
          <a:p>
            <a:pPr marL="0" indent="0" algn="ctr">
              <a:buNone/>
            </a:pPr>
            <a:r>
              <a:rPr lang="en-US" sz="900" b="1" dirty="0">
                <a:solidFill>
                  <a:srgbClr val="FFFFFF"/>
                </a:solidFill>
              </a:rPr>
              <a:t>Best Model</a:t>
            </a:r>
            <a:endParaRPr lang="en-US" sz="900" dirty="0"/>
          </a:p>
        </p:txBody>
      </p:sp>
      <p:sp>
        <p:nvSpPr>
          <p:cNvPr id="37" name="TextBox 36"/>
          <p:cNvSpPr txBox="1"/>
          <p:nvPr/>
        </p:nvSpPr>
        <p:spPr>
          <a:xfrm>
            <a:off x="8503920" y="4800600"/>
            <a:ext cx="502920" cy="256032"/>
          </a:xfrm>
          <a:prstGeom prst="rect">
            <a:avLst/>
          </a:prstGeom>
          <a:noFill/>
        </p:spPr>
        <p:txBody>
          <a:bodyPr wrap="none">
            <a:spAutoFit/>
          </a:bodyPr>
          <a:lstStyle/>
          <a:p>
            <a:pPr algn="ctr"/>
            <a:r>
              <a:rPr sz="900" b="0" dirty="0">
                <a:solidFill>
                  <a:srgbClr val="94A3B8"/>
                </a:solidFill>
              </a:rPr>
              <a:t>8 / 15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Results &amp; Evaluation</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Text 2"/>
          <p:cNvSpPr/>
          <p:nvPr/>
        </p:nvSpPr>
        <p:spPr>
          <a:xfrm>
            <a:off x="457200" y="822960"/>
            <a:ext cx="8229600" cy="256032"/>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All models evaluated on the same stratified 20% test set (400 samples)</a:t>
            </a:r>
            <a:endParaRPr lang="en-US" sz="1100" dirty="0"/>
          </a:p>
        </p:txBody>
      </p:sp>
      <p:sp>
        <p:nvSpPr>
          <p:cNvPr id="5" name="Shape 3"/>
          <p:cNvSpPr/>
          <p:nvPr/>
        </p:nvSpPr>
        <p:spPr>
          <a:xfrm>
            <a:off x="457200" y="1115568"/>
            <a:ext cx="4572000" cy="320040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tretch>
            <a:fillRect/>
          </a:stretch>
        </p:blipFill>
        <p:spPr>
          <a:xfrm>
            <a:off x="548640" y="1170432"/>
            <a:ext cx="4389120" cy="3063240"/>
          </a:xfrm>
          <a:prstGeom prst="rect">
            <a:avLst/>
          </a:prstGeom>
        </p:spPr>
      </p:pic>
      <p:sp>
        <p:nvSpPr>
          <p:cNvPr id="7" name="Shape 4"/>
          <p:cNvSpPr/>
          <p:nvPr/>
        </p:nvSpPr>
        <p:spPr>
          <a:xfrm>
            <a:off x="5212080" y="1115568"/>
            <a:ext cx="3474720" cy="320040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8" name="Text 5"/>
          <p:cNvSpPr/>
          <p:nvPr/>
        </p:nvSpPr>
        <p:spPr>
          <a:xfrm>
            <a:off x="5257800" y="1170432"/>
            <a:ext cx="3383280" cy="50292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Logistic Regression</a:t>
            </a:r>
            <a:endParaRPr lang="en-US" sz="1100" dirty="0"/>
          </a:p>
          <a:p>
            <a:pPr marL="0" indent="0">
              <a:buNone/>
            </a:pPr>
            <a:r>
              <a:rPr lang="en-US" sz="1100" b="1" dirty="0">
                <a:solidFill>
                  <a:srgbClr val="1A2B4A"/>
                </a:solidFill>
                <a:latin typeface="Calibri" pitchFamily="34" charset="0"/>
                <a:ea typeface="Calibri" pitchFamily="34" charset="-122"/>
                <a:cs typeface="Calibri" pitchFamily="34" charset="-120"/>
              </a:rPr>
              <a:t>Confusion Matrix</a:t>
            </a:r>
            <a:endParaRPr lang="en-US" sz="1100" dirty="0"/>
          </a:p>
        </p:txBody>
      </p:sp>
      <p:pic>
        <p:nvPicPr>
          <p:cNvPr id="9" name="Image 1" descr="preencoded.png"/>
          <p:cNvPicPr>
            <a:picLocks noChangeAspect="1"/>
          </p:cNvPicPr>
          <p:nvPr/>
        </p:nvPicPr>
        <p:blipFill>
          <a:blip r:embed="rId4"/>
          <a:stretch>
            <a:fillRect/>
          </a:stretch>
        </p:blipFill>
        <p:spPr>
          <a:xfrm>
            <a:off x="5230368" y="1691640"/>
            <a:ext cx="3429000" cy="2514600"/>
          </a:xfrm>
          <a:prstGeom prst="rect">
            <a:avLst/>
          </a:prstGeom>
        </p:spPr>
      </p:pic>
      <p:sp>
        <p:nvSpPr>
          <p:cNvPr id="10" name="Shape 6"/>
          <p:cNvSpPr/>
          <p:nvPr/>
        </p:nvSpPr>
        <p:spPr>
          <a:xfrm>
            <a:off x="457200" y="4434840"/>
            <a:ext cx="2011680" cy="5943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1" name="Shape 7"/>
          <p:cNvSpPr/>
          <p:nvPr/>
        </p:nvSpPr>
        <p:spPr>
          <a:xfrm>
            <a:off x="457200" y="4434840"/>
            <a:ext cx="2011680" cy="73152"/>
          </a:xfrm>
          <a:prstGeom prst="rect">
            <a:avLst/>
          </a:prstGeom>
          <a:solidFill>
            <a:srgbClr val="0E7C7B"/>
          </a:solidFill>
          <a:ln w="12700">
            <a:solidFill>
              <a:srgbClr val="0E7C7B"/>
            </a:solidFill>
            <a:prstDash val="solid"/>
          </a:ln>
        </p:spPr>
      </p:sp>
      <p:sp>
        <p:nvSpPr>
          <p:cNvPr id="12" name="Text 8"/>
          <p:cNvSpPr/>
          <p:nvPr/>
        </p:nvSpPr>
        <p:spPr>
          <a:xfrm>
            <a:off x="502920" y="4517136"/>
            <a:ext cx="960120" cy="411480"/>
          </a:xfrm>
          <a:prstGeom prst="rect">
            <a:avLst/>
          </a:prstGeom>
          <a:noFill/>
          <a:ln/>
        </p:spPr>
        <p:txBody>
          <a:bodyPr wrap="square" rtlCol="0" anchor="ctr"/>
          <a:lstStyle/>
          <a:p>
            <a:pPr marL="0" indent="0">
              <a:buNone/>
            </a:pPr>
            <a:r>
              <a:rPr lang="en-US" sz="1800" b="1" dirty="0">
                <a:solidFill>
                  <a:srgbClr val="0E7C7B"/>
                </a:solidFill>
                <a:latin typeface="Calibri" pitchFamily="34" charset="0"/>
                <a:ea typeface="Calibri" pitchFamily="34" charset="-122"/>
                <a:cs typeface="Calibri" pitchFamily="34" charset="-120"/>
              </a:rPr>
              <a:t>97.50%</a:t>
            </a:r>
            <a:endParaRPr lang="en-US" sz="1800" dirty="0"/>
          </a:p>
        </p:txBody>
      </p:sp>
      <p:sp>
        <p:nvSpPr>
          <p:cNvPr id="13" name="Text 9"/>
          <p:cNvSpPr/>
          <p:nvPr/>
        </p:nvSpPr>
        <p:spPr>
          <a:xfrm>
            <a:off x="1463040" y="4517136"/>
            <a:ext cx="91440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Accuracy</a:t>
            </a:r>
            <a:endParaRPr lang="en-US" sz="1000" dirty="0"/>
          </a:p>
        </p:txBody>
      </p:sp>
      <p:sp>
        <p:nvSpPr>
          <p:cNvPr id="14" name="Shape 10"/>
          <p:cNvSpPr/>
          <p:nvPr/>
        </p:nvSpPr>
        <p:spPr>
          <a:xfrm>
            <a:off x="2628900" y="4434840"/>
            <a:ext cx="2011680" cy="5943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5" name="Shape 11"/>
          <p:cNvSpPr/>
          <p:nvPr/>
        </p:nvSpPr>
        <p:spPr>
          <a:xfrm>
            <a:off x="2628900" y="4434840"/>
            <a:ext cx="2011680" cy="73152"/>
          </a:xfrm>
          <a:prstGeom prst="rect">
            <a:avLst/>
          </a:prstGeom>
          <a:solidFill>
            <a:srgbClr val="1A2B4A"/>
          </a:solidFill>
          <a:ln w="12700">
            <a:solidFill>
              <a:srgbClr val="1A2B4A"/>
            </a:solidFill>
            <a:prstDash val="solid"/>
          </a:ln>
        </p:spPr>
      </p:sp>
      <p:sp>
        <p:nvSpPr>
          <p:cNvPr id="16" name="Text 12"/>
          <p:cNvSpPr/>
          <p:nvPr/>
        </p:nvSpPr>
        <p:spPr>
          <a:xfrm>
            <a:off x="2674620" y="4517136"/>
            <a:ext cx="960120" cy="411480"/>
          </a:xfrm>
          <a:prstGeom prst="rect">
            <a:avLst/>
          </a:prstGeom>
          <a:noFill/>
          <a:ln/>
        </p:spPr>
        <p:txBody>
          <a:bodyPr wrap="square"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0.96</a:t>
            </a:r>
            <a:endParaRPr lang="en-US" sz="1800" dirty="0"/>
          </a:p>
        </p:txBody>
      </p:sp>
      <p:sp>
        <p:nvSpPr>
          <p:cNvPr id="17" name="Text 13"/>
          <p:cNvSpPr/>
          <p:nvPr/>
        </p:nvSpPr>
        <p:spPr>
          <a:xfrm>
            <a:off x="3634740" y="4517136"/>
            <a:ext cx="91440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F1 Macro</a:t>
            </a:r>
            <a:endParaRPr lang="en-US" sz="1000" dirty="0"/>
          </a:p>
        </p:txBody>
      </p:sp>
      <p:sp>
        <p:nvSpPr>
          <p:cNvPr id="18" name="Shape 14"/>
          <p:cNvSpPr/>
          <p:nvPr/>
        </p:nvSpPr>
        <p:spPr>
          <a:xfrm>
            <a:off x="4800600" y="4434840"/>
            <a:ext cx="2011680" cy="5943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9" name="Shape 15"/>
          <p:cNvSpPr/>
          <p:nvPr/>
        </p:nvSpPr>
        <p:spPr>
          <a:xfrm>
            <a:off x="4800600" y="4434840"/>
            <a:ext cx="2011680" cy="73152"/>
          </a:xfrm>
          <a:prstGeom prst="rect">
            <a:avLst/>
          </a:prstGeom>
          <a:solidFill>
            <a:srgbClr val="0E7C7B"/>
          </a:solidFill>
          <a:ln w="12700">
            <a:solidFill>
              <a:srgbClr val="0E7C7B"/>
            </a:solidFill>
            <a:prstDash val="solid"/>
          </a:ln>
        </p:spPr>
      </p:sp>
      <p:sp>
        <p:nvSpPr>
          <p:cNvPr id="20" name="Text 16"/>
          <p:cNvSpPr/>
          <p:nvPr/>
        </p:nvSpPr>
        <p:spPr>
          <a:xfrm>
            <a:off x="4846320" y="4517136"/>
            <a:ext cx="960120" cy="411480"/>
          </a:xfrm>
          <a:prstGeom prst="rect">
            <a:avLst/>
          </a:prstGeom>
          <a:noFill/>
          <a:ln/>
        </p:spPr>
        <p:txBody>
          <a:bodyPr wrap="square" rtlCol="0" anchor="ctr"/>
          <a:lstStyle/>
          <a:p>
            <a:pPr marL="0" indent="0">
              <a:buNone/>
            </a:pPr>
            <a:r>
              <a:rPr lang="en-US" sz="1800" b="1" dirty="0">
                <a:solidFill>
                  <a:srgbClr val="0E7C7B"/>
                </a:solidFill>
                <a:latin typeface="Calibri" pitchFamily="34" charset="0"/>
                <a:ea typeface="Calibri" pitchFamily="34" charset="-122"/>
                <a:cs typeface="Calibri" pitchFamily="34" charset="-120"/>
              </a:rPr>
              <a:t>0.93</a:t>
            </a:r>
            <a:endParaRPr lang="en-US" sz="1800" dirty="0"/>
          </a:p>
        </p:txBody>
      </p:sp>
      <p:sp>
        <p:nvSpPr>
          <p:cNvPr id="21" name="Text 17"/>
          <p:cNvSpPr/>
          <p:nvPr/>
        </p:nvSpPr>
        <p:spPr>
          <a:xfrm>
            <a:off x="5806440" y="4517136"/>
            <a:ext cx="91440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Low Recall</a:t>
            </a:r>
            <a:endParaRPr lang="en-US" sz="1000" dirty="0"/>
          </a:p>
        </p:txBody>
      </p:sp>
      <p:sp>
        <p:nvSpPr>
          <p:cNvPr id="22" name="Shape 18"/>
          <p:cNvSpPr/>
          <p:nvPr/>
        </p:nvSpPr>
        <p:spPr>
          <a:xfrm>
            <a:off x="6972300" y="4434840"/>
            <a:ext cx="2011680" cy="5943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3" name="Shape 19"/>
          <p:cNvSpPr/>
          <p:nvPr/>
        </p:nvSpPr>
        <p:spPr>
          <a:xfrm>
            <a:off x="6972300" y="4434840"/>
            <a:ext cx="2011680" cy="73152"/>
          </a:xfrm>
          <a:prstGeom prst="rect">
            <a:avLst/>
          </a:prstGeom>
          <a:solidFill>
            <a:srgbClr val="DC2626"/>
          </a:solidFill>
          <a:ln w="12700">
            <a:solidFill>
              <a:srgbClr val="DC2626"/>
            </a:solidFill>
            <a:prstDash val="solid"/>
          </a:ln>
        </p:spPr>
      </p:sp>
      <p:sp>
        <p:nvSpPr>
          <p:cNvPr id="24" name="Text 20"/>
          <p:cNvSpPr/>
          <p:nvPr/>
        </p:nvSpPr>
        <p:spPr>
          <a:xfrm>
            <a:off x="7018020" y="4517136"/>
            <a:ext cx="960120" cy="411480"/>
          </a:xfrm>
          <a:prstGeom prst="rect">
            <a:avLst/>
          </a:prstGeom>
          <a:noFill/>
          <a:ln/>
        </p:spPr>
        <p:txBody>
          <a:bodyPr wrap="square"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0.98</a:t>
            </a:r>
            <a:endParaRPr lang="en-US" sz="1800" dirty="0"/>
          </a:p>
        </p:txBody>
      </p:sp>
      <p:sp>
        <p:nvSpPr>
          <p:cNvPr id="25" name="Text 21"/>
          <p:cNvSpPr/>
          <p:nvPr/>
        </p:nvSpPr>
        <p:spPr>
          <a:xfrm>
            <a:off x="7978140" y="4517136"/>
            <a:ext cx="91440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High Recall</a:t>
            </a:r>
            <a:endParaRPr lang="en-US" sz="1000" dirty="0"/>
          </a:p>
        </p:txBody>
      </p:sp>
      <p:sp>
        <p:nvSpPr>
          <p:cNvPr id="26" name="TextBox 25"/>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9 / 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Why Logistic Regression Won</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Text 2"/>
          <p:cNvSpPr/>
          <p:nvPr/>
        </p:nvSpPr>
        <p:spPr>
          <a:xfrm>
            <a:off x="457200" y="822960"/>
            <a:ext cx="8229600" cy="256032"/>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The simplest model outperformed the most complex — here's the explanation</a:t>
            </a:r>
            <a:endParaRPr lang="en-US" sz="1100" dirty="0"/>
          </a:p>
        </p:txBody>
      </p:sp>
      <p:sp>
        <p:nvSpPr>
          <p:cNvPr id="5" name="Shape 3"/>
          <p:cNvSpPr/>
          <p:nvPr/>
        </p:nvSpPr>
        <p:spPr>
          <a:xfrm>
            <a:off x="457200" y="1234440"/>
            <a:ext cx="4114800" cy="166420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6" name="Shape 4"/>
          <p:cNvSpPr/>
          <p:nvPr/>
        </p:nvSpPr>
        <p:spPr>
          <a:xfrm>
            <a:off x="457200" y="1234440"/>
            <a:ext cx="73152" cy="1664208"/>
          </a:xfrm>
          <a:prstGeom prst="rect">
            <a:avLst/>
          </a:prstGeom>
          <a:solidFill>
            <a:srgbClr val="0E7C7B"/>
          </a:solidFill>
          <a:ln w="12700">
            <a:solidFill>
              <a:srgbClr val="0E7C7B"/>
            </a:solidFill>
            <a:prstDash val="solid"/>
          </a:ln>
        </p:spPr>
      </p:sp>
      <p:sp>
        <p:nvSpPr>
          <p:cNvPr id="7" name="Text 5"/>
          <p:cNvSpPr/>
          <p:nvPr/>
        </p:nvSpPr>
        <p:spPr>
          <a:xfrm>
            <a:off x="640080" y="1325880"/>
            <a:ext cx="457200" cy="411480"/>
          </a:xfrm>
          <a:prstGeom prst="rect">
            <a:avLst/>
          </a:prstGeom>
          <a:noFill/>
          <a:ln/>
        </p:spPr>
        <p:txBody>
          <a:bodyPr wrap="square" rtlCol="0" anchor="ctr"/>
          <a:lstStyle/>
          <a:p>
            <a:pPr marL="0" indent="0">
              <a:buNone/>
            </a:pPr>
            <a:r>
              <a:rPr lang="en-US" sz="2200" b="1" dirty="0">
                <a:solidFill>
                  <a:srgbClr val="0E7C7B"/>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640080" y="1783080"/>
            <a:ext cx="3749040" cy="320040"/>
          </a:xfrm>
          <a:prstGeom prst="rect">
            <a:avLst/>
          </a:prstGeom>
          <a:noFill/>
          <a:ln/>
        </p:spPr>
        <p:txBody>
          <a:bodyPr wrap="square"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Clean, Well-Structured Data</a:t>
            </a:r>
            <a:endParaRPr lang="en-US" sz="1200" dirty="0"/>
          </a:p>
        </p:txBody>
      </p:sp>
      <p:sp>
        <p:nvSpPr>
          <p:cNvPr id="9" name="Text 7"/>
          <p:cNvSpPr/>
          <p:nvPr/>
        </p:nvSpPr>
        <p:spPr>
          <a:xfrm>
            <a:off x="640080" y="2130552"/>
            <a:ext cx="3794760" cy="658368"/>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0 missing values, 0 duplicates, low noise — the ideal environment for a linear model to excel.</a:t>
            </a:r>
            <a:endParaRPr lang="en-US" sz="1000" dirty="0"/>
          </a:p>
        </p:txBody>
      </p:sp>
      <p:sp>
        <p:nvSpPr>
          <p:cNvPr id="10" name="Shape 8"/>
          <p:cNvSpPr/>
          <p:nvPr/>
        </p:nvSpPr>
        <p:spPr>
          <a:xfrm>
            <a:off x="4800600" y="1234440"/>
            <a:ext cx="4114800" cy="166420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1" name="Shape 9"/>
          <p:cNvSpPr/>
          <p:nvPr/>
        </p:nvSpPr>
        <p:spPr>
          <a:xfrm>
            <a:off x="4800600" y="1234440"/>
            <a:ext cx="73152" cy="1664208"/>
          </a:xfrm>
          <a:prstGeom prst="rect">
            <a:avLst/>
          </a:prstGeom>
          <a:solidFill>
            <a:srgbClr val="1A2B4A"/>
          </a:solidFill>
          <a:ln w="12700">
            <a:solidFill>
              <a:srgbClr val="1A2B4A"/>
            </a:solidFill>
            <a:prstDash val="solid"/>
          </a:ln>
        </p:spPr>
      </p:sp>
      <p:sp>
        <p:nvSpPr>
          <p:cNvPr id="12" name="Text 10"/>
          <p:cNvSpPr/>
          <p:nvPr/>
        </p:nvSpPr>
        <p:spPr>
          <a:xfrm>
            <a:off x="4983480" y="1325880"/>
            <a:ext cx="457200" cy="411480"/>
          </a:xfrm>
          <a:prstGeom prst="rect">
            <a:avLst/>
          </a:prstGeom>
          <a:noFill/>
          <a:ln/>
        </p:spPr>
        <p:txBody>
          <a:bodyPr wrap="square" rtlCol="0" anchor="ctr"/>
          <a:lstStyle/>
          <a:p>
            <a:pPr marL="0" indent="0">
              <a:buNone/>
            </a:pPr>
            <a:r>
              <a:rPr lang="en-US" sz="2200" b="1" dirty="0">
                <a:solidFill>
                  <a:srgbClr val="1A2B4A"/>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4983480" y="1783080"/>
            <a:ext cx="3749040" cy="320040"/>
          </a:xfrm>
          <a:prstGeom prst="rect">
            <a:avLst/>
          </a:prstGeom>
          <a:noFill/>
          <a:ln/>
        </p:spPr>
        <p:txBody>
          <a:bodyPr wrap="square"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Near-Linear Feature Relationships</a:t>
            </a:r>
            <a:endParaRPr lang="en-US" sz="1200" dirty="0"/>
          </a:p>
        </p:txBody>
      </p:sp>
      <p:sp>
        <p:nvSpPr>
          <p:cNvPr id="14" name="Text 12"/>
          <p:cNvSpPr/>
          <p:nvPr/>
        </p:nvSpPr>
        <p:spPr>
          <a:xfrm>
            <a:off x="4983480" y="2130552"/>
            <a:ext cx="3794760" cy="658368"/>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EDA boxplots confirmed monotonic trends: fatigue↑ → risk↑, sleep↓ → risk↑. LR captures this perfectly.</a:t>
            </a:r>
            <a:endParaRPr lang="en-US" sz="1000" dirty="0"/>
          </a:p>
        </p:txBody>
      </p:sp>
      <p:sp>
        <p:nvSpPr>
          <p:cNvPr id="15" name="Shape 13"/>
          <p:cNvSpPr/>
          <p:nvPr/>
        </p:nvSpPr>
        <p:spPr>
          <a:xfrm>
            <a:off x="457200" y="3063240"/>
            <a:ext cx="4114800" cy="166420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6" name="Shape 14"/>
          <p:cNvSpPr/>
          <p:nvPr/>
        </p:nvSpPr>
        <p:spPr>
          <a:xfrm>
            <a:off x="457200" y="3063240"/>
            <a:ext cx="73152" cy="1664208"/>
          </a:xfrm>
          <a:prstGeom prst="rect">
            <a:avLst/>
          </a:prstGeom>
          <a:solidFill>
            <a:srgbClr val="0E7C7B"/>
          </a:solidFill>
          <a:ln w="12700">
            <a:solidFill>
              <a:srgbClr val="0E7C7B"/>
            </a:solidFill>
            <a:prstDash val="solid"/>
          </a:ln>
        </p:spPr>
      </p:sp>
      <p:sp>
        <p:nvSpPr>
          <p:cNvPr id="17" name="Text 15"/>
          <p:cNvSpPr/>
          <p:nvPr/>
        </p:nvSpPr>
        <p:spPr>
          <a:xfrm>
            <a:off x="640080" y="3154680"/>
            <a:ext cx="457200" cy="411480"/>
          </a:xfrm>
          <a:prstGeom prst="rect">
            <a:avLst/>
          </a:prstGeom>
          <a:noFill/>
          <a:ln/>
        </p:spPr>
        <p:txBody>
          <a:bodyPr wrap="square" rtlCol="0" anchor="ctr"/>
          <a:lstStyle/>
          <a:p>
            <a:pPr marL="0" indent="0">
              <a:buNone/>
            </a:pPr>
            <a:r>
              <a:rPr lang="en-US" sz="2200" b="1" dirty="0">
                <a:solidFill>
                  <a:srgbClr val="0E7C7B"/>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640080" y="3611880"/>
            <a:ext cx="3749040" cy="320040"/>
          </a:xfrm>
          <a:prstGeom prst="rect">
            <a:avLst/>
          </a:prstGeom>
          <a:noFill/>
          <a:ln/>
        </p:spPr>
        <p:txBody>
          <a:bodyPr wrap="square"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Class Weighting Worked</a:t>
            </a:r>
            <a:endParaRPr lang="en-US" sz="1200" dirty="0"/>
          </a:p>
        </p:txBody>
      </p:sp>
      <p:sp>
        <p:nvSpPr>
          <p:cNvPr id="19" name="Text 17"/>
          <p:cNvSpPr/>
          <p:nvPr/>
        </p:nvSpPr>
        <p:spPr>
          <a:xfrm>
            <a:off x="640080" y="3959352"/>
            <a:ext cx="3794760" cy="658368"/>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class_weight='balanced' gave proper training weight to the 138 High-Risk samples, preventing LR from ignoring the minority.</a:t>
            </a:r>
            <a:endParaRPr lang="en-US" sz="1000" dirty="0"/>
          </a:p>
        </p:txBody>
      </p:sp>
      <p:sp>
        <p:nvSpPr>
          <p:cNvPr id="20" name="Shape 18"/>
          <p:cNvSpPr/>
          <p:nvPr/>
        </p:nvSpPr>
        <p:spPr>
          <a:xfrm>
            <a:off x="4800600" y="3063240"/>
            <a:ext cx="4114800" cy="1664208"/>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1" name="Shape 19"/>
          <p:cNvSpPr/>
          <p:nvPr/>
        </p:nvSpPr>
        <p:spPr>
          <a:xfrm>
            <a:off x="4800600" y="3063240"/>
            <a:ext cx="73152" cy="1664208"/>
          </a:xfrm>
          <a:prstGeom prst="rect">
            <a:avLst/>
          </a:prstGeom>
          <a:solidFill>
            <a:srgbClr val="1A2B4A"/>
          </a:solidFill>
          <a:ln w="12700">
            <a:solidFill>
              <a:srgbClr val="1A2B4A"/>
            </a:solidFill>
            <a:prstDash val="solid"/>
          </a:ln>
        </p:spPr>
      </p:sp>
      <p:sp>
        <p:nvSpPr>
          <p:cNvPr id="22" name="Text 20"/>
          <p:cNvSpPr/>
          <p:nvPr/>
        </p:nvSpPr>
        <p:spPr>
          <a:xfrm>
            <a:off x="4983480" y="3154680"/>
            <a:ext cx="457200" cy="411480"/>
          </a:xfrm>
          <a:prstGeom prst="rect">
            <a:avLst/>
          </a:prstGeom>
          <a:noFill/>
          <a:ln/>
        </p:spPr>
        <p:txBody>
          <a:bodyPr wrap="square" rtlCol="0" anchor="ctr"/>
          <a:lstStyle/>
          <a:p>
            <a:pPr marL="0" indent="0">
              <a:buNone/>
            </a:pPr>
            <a:r>
              <a:rPr lang="en-US" sz="2200" b="1" dirty="0">
                <a:solidFill>
                  <a:srgbClr val="1A2B4A"/>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4983480" y="3611880"/>
            <a:ext cx="3749040" cy="320040"/>
          </a:xfrm>
          <a:prstGeom prst="rect">
            <a:avLst/>
          </a:prstGeom>
          <a:noFill/>
          <a:ln/>
        </p:spPr>
        <p:txBody>
          <a:bodyPr wrap="square"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Interpretability for HR Teams</a:t>
            </a:r>
            <a:endParaRPr lang="en-US" sz="1200" dirty="0"/>
          </a:p>
        </p:txBody>
      </p:sp>
      <p:sp>
        <p:nvSpPr>
          <p:cNvPr id="24" name="Text 22"/>
          <p:cNvSpPr/>
          <p:nvPr/>
        </p:nvSpPr>
        <p:spPr>
          <a:xfrm>
            <a:off x="4983480" y="3959352"/>
            <a:ext cx="3794760" cy="658368"/>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HR needs to explain decisions. LR coefficients are directly readable — Random Forest is a black box by comparison.</a:t>
            </a:r>
            <a:endParaRPr lang="en-US" sz="1000" dirty="0"/>
          </a:p>
        </p:txBody>
      </p:sp>
      <p:sp>
        <p:nvSpPr>
          <p:cNvPr id="25" name="TextBox 24"/>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10 / 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The Application</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2685553" y="973836"/>
            <a:ext cx="3200400" cy="37947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Text 3"/>
          <p:cNvSpPr/>
          <p:nvPr/>
        </p:nvSpPr>
        <p:spPr>
          <a:xfrm>
            <a:off x="2959873" y="1051560"/>
            <a:ext cx="2926080" cy="347472"/>
          </a:xfrm>
          <a:prstGeom prst="rect">
            <a:avLst/>
          </a:prstGeom>
          <a:noFill/>
          <a:ln/>
        </p:spPr>
        <p:txBody>
          <a:bodyPr wrap="square"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App Features</a:t>
            </a:r>
            <a:endParaRPr lang="en-US" sz="1300" dirty="0"/>
          </a:p>
        </p:txBody>
      </p:sp>
      <p:sp>
        <p:nvSpPr>
          <p:cNvPr id="6" name="Shape 4"/>
          <p:cNvSpPr/>
          <p:nvPr/>
        </p:nvSpPr>
        <p:spPr>
          <a:xfrm>
            <a:off x="2932441" y="1508760"/>
            <a:ext cx="201168" cy="201168"/>
          </a:xfrm>
          <a:prstGeom prst="ellipse">
            <a:avLst/>
          </a:prstGeom>
          <a:solidFill>
            <a:srgbClr val="0E7C7B"/>
          </a:solidFill>
          <a:ln w="12700">
            <a:solidFill>
              <a:srgbClr val="0E7C7B"/>
            </a:solidFill>
            <a:prstDash val="solid"/>
          </a:ln>
        </p:spPr>
      </p:sp>
      <p:sp>
        <p:nvSpPr>
          <p:cNvPr id="7" name="Text 5"/>
          <p:cNvSpPr/>
          <p:nvPr/>
        </p:nvSpPr>
        <p:spPr>
          <a:xfrm>
            <a:off x="3234193" y="1508760"/>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Input Panel</a:t>
            </a:r>
            <a:endParaRPr lang="en-US" sz="1100" dirty="0"/>
          </a:p>
        </p:txBody>
      </p:sp>
      <p:sp>
        <p:nvSpPr>
          <p:cNvPr id="8" name="Text 6"/>
          <p:cNvSpPr/>
          <p:nvPr/>
        </p:nvSpPr>
        <p:spPr>
          <a:xfrm>
            <a:off x="3234193" y="1719072"/>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12 sliders for employee metrics</a:t>
            </a:r>
            <a:endParaRPr lang="en-US" sz="950" dirty="0"/>
          </a:p>
        </p:txBody>
      </p:sp>
      <p:sp>
        <p:nvSpPr>
          <p:cNvPr id="9" name="Shape 7"/>
          <p:cNvSpPr/>
          <p:nvPr/>
        </p:nvSpPr>
        <p:spPr>
          <a:xfrm>
            <a:off x="2932441" y="2029968"/>
            <a:ext cx="201168" cy="201168"/>
          </a:xfrm>
          <a:prstGeom prst="ellipse">
            <a:avLst/>
          </a:prstGeom>
          <a:solidFill>
            <a:srgbClr val="0E7C7B"/>
          </a:solidFill>
          <a:ln w="12700">
            <a:solidFill>
              <a:srgbClr val="0E7C7B"/>
            </a:solidFill>
            <a:prstDash val="solid"/>
          </a:ln>
        </p:spPr>
      </p:sp>
      <p:sp>
        <p:nvSpPr>
          <p:cNvPr id="10" name="Text 8"/>
          <p:cNvSpPr/>
          <p:nvPr/>
        </p:nvSpPr>
        <p:spPr>
          <a:xfrm>
            <a:off x="3234193" y="2029968"/>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Instant Prediction</a:t>
            </a:r>
            <a:endParaRPr lang="en-US" sz="1100" dirty="0"/>
          </a:p>
        </p:txBody>
      </p:sp>
      <p:sp>
        <p:nvSpPr>
          <p:cNvPr id="11" name="Text 9"/>
          <p:cNvSpPr/>
          <p:nvPr/>
        </p:nvSpPr>
        <p:spPr>
          <a:xfrm>
            <a:off x="3234193" y="2240280"/>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Returns Low/Med/High immediately</a:t>
            </a:r>
            <a:endParaRPr lang="en-US" sz="950" dirty="0"/>
          </a:p>
        </p:txBody>
      </p:sp>
      <p:sp>
        <p:nvSpPr>
          <p:cNvPr id="12" name="Shape 10"/>
          <p:cNvSpPr/>
          <p:nvPr/>
        </p:nvSpPr>
        <p:spPr>
          <a:xfrm>
            <a:off x="2932441" y="2551176"/>
            <a:ext cx="201168" cy="201168"/>
          </a:xfrm>
          <a:prstGeom prst="ellipse">
            <a:avLst/>
          </a:prstGeom>
          <a:solidFill>
            <a:srgbClr val="0E7C7B"/>
          </a:solidFill>
          <a:ln w="12700">
            <a:solidFill>
              <a:srgbClr val="0E7C7B"/>
            </a:solidFill>
            <a:prstDash val="solid"/>
          </a:ln>
        </p:spPr>
      </p:sp>
      <p:sp>
        <p:nvSpPr>
          <p:cNvPr id="13" name="Text 11"/>
          <p:cNvSpPr/>
          <p:nvPr/>
        </p:nvSpPr>
        <p:spPr>
          <a:xfrm>
            <a:off x="3234193" y="2551176"/>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Risk Distribution</a:t>
            </a:r>
            <a:endParaRPr lang="en-US" sz="1100" dirty="0"/>
          </a:p>
        </p:txBody>
      </p:sp>
      <p:sp>
        <p:nvSpPr>
          <p:cNvPr id="14" name="Text 12"/>
          <p:cNvSpPr/>
          <p:nvPr/>
        </p:nvSpPr>
        <p:spPr>
          <a:xfrm>
            <a:off x="3234193" y="2761488"/>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Live chart of class spread</a:t>
            </a:r>
            <a:endParaRPr lang="en-US" sz="950" dirty="0"/>
          </a:p>
        </p:txBody>
      </p:sp>
      <p:sp>
        <p:nvSpPr>
          <p:cNvPr id="15" name="Shape 13"/>
          <p:cNvSpPr/>
          <p:nvPr/>
        </p:nvSpPr>
        <p:spPr>
          <a:xfrm>
            <a:off x="2932441" y="3072384"/>
            <a:ext cx="201168" cy="201168"/>
          </a:xfrm>
          <a:prstGeom prst="ellipse">
            <a:avLst/>
          </a:prstGeom>
          <a:solidFill>
            <a:srgbClr val="0E7C7B"/>
          </a:solidFill>
          <a:ln w="12700">
            <a:solidFill>
              <a:srgbClr val="0E7C7B"/>
            </a:solidFill>
            <a:prstDash val="solid"/>
          </a:ln>
        </p:spPr>
      </p:sp>
      <p:sp>
        <p:nvSpPr>
          <p:cNvPr id="16" name="Text 14"/>
          <p:cNvSpPr/>
          <p:nvPr/>
        </p:nvSpPr>
        <p:spPr>
          <a:xfrm>
            <a:off x="3234193" y="3072384"/>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Feature Weights</a:t>
            </a:r>
            <a:endParaRPr lang="en-US" sz="1100" dirty="0"/>
          </a:p>
        </p:txBody>
      </p:sp>
      <p:sp>
        <p:nvSpPr>
          <p:cNvPr id="17" name="Text 15"/>
          <p:cNvSpPr/>
          <p:nvPr/>
        </p:nvSpPr>
        <p:spPr>
          <a:xfrm>
            <a:off x="3234193" y="3282696"/>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Shows top contributing factors</a:t>
            </a:r>
            <a:endParaRPr lang="en-US" sz="950" dirty="0"/>
          </a:p>
        </p:txBody>
      </p:sp>
      <p:sp>
        <p:nvSpPr>
          <p:cNvPr id="18" name="Shape 16"/>
          <p:cNvSpPr/>
          <p:nvPr/>
        </p:nvSpPr>
        <p:spPr>
          <a:xfrm>
            <a:off x="2932441" y="3593592"/>
            <a:ext cx="201168" cy="201168"/>
          </a:xfrm>
          <a:prstGeom prst="ellipse">
            <a:avLst/>
          </a:prstGeom>
          <a:solidFill>
            <a:srgbClr val="0E7C7B"/>
          </a:solidFill>
          <a:ln w="12700">
            <a:solidFill>
              <a:srgbClr val="0E7C7B"/>
            </a:solidFill>
            <a:prstDash val="solid"/>
          </a:ln>
        </p:spPr>
      </p:sp>
      <p:sp>
        <p:nvSpPr>
          <p:cNvPr id="19" name="Text 17"/>
          <p:cNvSpPr/>
          <p:nvPr/>
        </p:nvSpPr>
        <p:spPr>
          <a:xfrm>
            <a:off x="3234193" y="3593592"/>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Model Used</a:t>
            </a:r>
            <a:endParaRPr lang="en-US" sz="1100" dirty="0"/>
          </a:p>
        </p:txBody>
      </p:sp>
      <p:sp>
        <p:nvSpPr>
          <p:cNvPr id="20" name="Text 18"/>
          <p:cNvSpPr/>
          <p:nvPr/>
        </p:nvSpPr>
        <p:spPr>
          <a:xfrm>
            <a:off x="3234193" y="3803904"/>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Logistic Regression · saved as model.pkl</a:t>
            </a:r>
            <a:endParaRPr lang="en-US" sz="950" dirty="0"/>
          </a:p>
        </p:txBody>
      </p:sp>
      <p:sp>
        <p:nvSpPr>
          <p:cNvPr id="21" name="Shape 19"/>
          <p:cNvSpPr/>
          <p:nvPr/>
        </p:nvSpPr>
        <p:spPr>
          <a:xfrm>
            <a:off x="2932441" y="4114800"/>
            <a:ext cx="201168" cy="201168"/>
          </a:xfrm>
          <a:prstGeom prst="ellipse">
            <a:avLst/>
          </a:prstGeom>
          <a:solidFill>
            <a:srgbClr val="0E7C7B"/>
          </a:solidFill>
          <a:ln w="12700">
            <a:solidFill>
              <a:srgbClr val="0E7C7B"/>
            </a:solidFill>
            <a:prstDash val="solid"/>
          </a:ln>
        </p:spPr>
      </p:sp>
      <p:sp>
        <p:nvSpPr>
          <p:cNvPr id="22" name="Text 20"/>
          <p:cNvSpPr/>
          <p:nvPr/>
        </p:nvSpPr>
        <p:spPr>
          <a:xfrm>
            <a:off x="3234193" y="4114800"/>
            <a:ext cx="265176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No-Code UI</a:t>
            </a:r>
            <a:endParaRPr lang="en-US" sz="1100" dirty="0"/>
          </a:p>
        </p:txBody>
      </p:sp>
      <p:sp>
        <p:nvSpPr>
          <p:cNvPr id="23" name="Text 21"/>
          <p:cNvSpPr/>
          <p:nvPr/>
        </p:nvSpPr>
        <p:spPr>
          <a:xfrm>
            <a:off x="3234193" y="4325112"/>
            <a:ext cx="265176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Built for non-technical HR teams</a:t>
            </a:r>
            <a:endParaRPr lang="en-US" sz="950" dirty="0"/>
          </a:p>
        </p:txBody>
      </p:sp>
      <p:sp>
        <p:nvSpPr>
          <p:cNvPr id="66" name="TextBox 65"/>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11 / 15</a:t>
            </a:r>
          </a:p>
        </p:txBody>
      </p:sp>
      <p:sp>
        <p:nvSpPr>
          <p:cNvPr id="67" name="TextBox 66">
            <a:extLst>
              <a:ext uri="{FF2B5EF4-FFF2-40B4-BE49-F238E27FC236}">
                <a16:creationId xmlns:a16="http://schemas.microsoft.com/office/drawing/2014/main" id="{1F872B92-2834-6F0B-AF59-DD6CED32A084}"/>
              </a:ext>
            </a:extLst>
          </p:cNvPr>
          <p:cNvSpPr txBox="1"/>
          <p:nvPr/>
        </p:nvSpPr>
        <p:spPr>
          <a:xfrm>
            <a:off x="6510131" y="973836"/>
            <a:ext cx="1654812" cy="369332"/>
          </a:xfrm>
          <a:prstGeom prst="rect">
            <a:avLst/>
          </a:prstGeom>
          <a:noFill/>
        </p:spPr>
        <p:txBody>
          <a:bodyPr wrap="none" rtlCol="0">
            <a:spAutoFit/>
          </a:bodyPr>
          <a:lstStyle/>
          <a:p>
            <a:r>
              <a:rPr lang="en-US" dirty="0" err="1">
                <a:hlinkClick r:id="rId3"/>
              </a:rPr>
              <a:t>Streamlit</a:t>
            </a:r>
            <a:r>
              <a:rPr lang="en-US" dirty="0">
                <a:hlinkClick r:id="rId3"/>
              </a:rPr>
              <a:t> Demo</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Key Insights &amp; Findings</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1051560"/>
            <a:ext cx="2697480" cy="1627632"/>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Shape 3"/>
          <p:cNvSpPr/>
          <p:nvPr/>
        </p:nvSpPr>
        <p:spPr>
          <a:xfrm>
            <a:off x="457200" y="1051560"/>
            <a:ext cx="2697480" cy="91440"/>
          </a:xfrm>
          <a:prstGeom prst="rect">
            <a:avLst/>
          </a:prstGeom>
          <a:solidFill>
            <a:srgbClr val="DC2626"/>
          </a:solidFill>
          <a:ln w="12700">
            <a:solidFill>
              <a:srgbClr val="DC2626"/>
            </a:solidFill>
            <a:prstDash val="solid"/>
          </a:ln>
        </p:spPr>
      </p:sp>
      <p:sp>
        <p:nvSpPr>
          <p:cNvPr id="6" name="Text 4"/>
          <p:cNvSpPr/>
          <p:nvPr/>
        </p:nvSpPr>
        <p:spPr>
          <a:xfrm>
            <a:off x="566928" y="1179576"/>
            <a:ext cx="502920" cy="320040"/>
          </a:xfrm>
          <a:prstGeom prst="rect">
            <a:avLst/>
          </a:prstGeom>
          <a:noFill/>
          <a:ln/>
        </p:spPr>
        <p:txBody>
          <a:bodyPr wrap="square"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97280" y="1197864"/>
            <a:ext cx="1920240" cy="32004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Fatigue is the top predictor</a:t>
            </a:r>
            <a:endParaRPr lang="en-US" sz="1000" dirty="0"/>
          </a:p>
        </p:txBody>
      </p:sp>
      <p:sp>
        <p:nvSpPr>
          <p:cNvPr id="8" name="Text 6"/>
          <p:cNvSpPr/>
          <p:nvPr/>
        </p:nvSpPr>
        <p:spPr>
          <a:xfrm>
            <a:off x="566928" y="1581912"/>
            <a:ext cx="2468880" cy="91440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28% feature importance. Employees at 9+ fatigue are almost always High-Risk. The strongest single signal.</a:t>
            </a:r>
            <a:endParaRPr lang="en-US" sz="950" dirty="0"/>
          </a:p>
        </p:txBody>
      </p:sp>
      <p:sp>
        <p:nvSpPr>
          <p:cNvPr id="9" name="Shape 7"/>
          <p:cNvSpPr/>
          <p:nvPr/>
        </p:nvSpPr>
        <p:spPr>
          <a:xfrm>
            <a:off x="3310128" y="1051560"/>
            <a:ext cx="2697480" cy="1627632"/>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0" name="Shape 8"/>
          <p:cNvSpPr/>
          <p:nvPr/>
        </p:nvSpPr>
        <p:spPr>
          <a:xfrm>
            <a:off x="3310128" y="1051560"/>
            <a:ext cx="2697480" cy="91440"/>
          </a:xfrm>
          <a:prstGeom prst="rect">
            <a:avLst/>
          </a:prstGeom>
          <a:solidFill>
            <a:srgbClr val="F59E0B"/>
          </a:solidFill>
          <a:ln w="12700">
            <a:solidFill>
              <a:srgbClr val="F59E0B"/>
            </a:solidFill>
            <a:prstDash val="solid"/>
          </a:ln>
        </p:spPr>
      </p:sp>
      <p:sp>
        <p:nvSpPr>
          <p:cNvPr id="11" name="Text 9"/>
          <p:cNvSpPr/>
          <p:nvPr/>
        </p:nvSpPr>
        <p:spPr>
          <a:xfrm>
            <a:off x="3419856" y="1179576"/>
            <a:ext cx="502920" cy="32004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950208" y="1197864"/>
            <a:ext cx="1920240" cy="32004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Social isolation amplifies burnout</a:t>
            </a:r>
            <a:endParaRPr lang="en-US" sz="1000" dirty="0"/>
          </a:p>
        </p:txBody>
      </p:sp>
      <p:sp>
        <p:nvSpPr>
          <p:cNvPr id="13" name="Text 11"/>
          <p:cNvSpPr/>
          <p:nvPr/>
        </p:nvSpPr>
        <p:spPr>
          <a:xfrm>
            <a:off x="3419856" y="1581912"/>
            <a:ext cx="2468880" cy="91440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24% importance. Remote workers with high isolation_index are 3× more likely to be High-Risk.</a:t>
            </a:r>
            <a:endParaRPr lang="en-US" sz="950" dirty="0"/>
          </a:p>
        </p:txBody>
      </p:sp>
      <p:sp>
        <p:nvSpPr>
          <p:cNvPr id="14" name="Shape 12"/>
          <p:cNvSpPr/>
          <p:nvPr/>
        </p:nvSpPr>
        <p:spPr>
          <a:xfrm>
            <a:off x="6163056" y="1051560"/>
            <a:ext cx="2697480" cy="1627632"/>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15" name="Shape 13"/>
          <p:cNvSpPr/>
          <p:nvPr/>
        </p:nvSpPr>
        <p:spPr>
          <a:xfrm>
            <a:off x="6163056" y="1051560"/>
            <a:ext cx="2697480" cy="91440"/>
          </a:xfrm>
          <a:prstGeom prst="rect">
            <a:avLst/>
          </a:prstGeom>
          <a:solidFill>
            <a:srgbClr val="0E7C7B"/>
          </a:solidFill>
          <a:ln w="12700">
            <a:solidFill>
              <a:srgbClr val="0E7C7B"/>
            </a:solidFill>
            <a:prstDash val="solid"/>
          </a:ln>
        </p:spPr>
      </p:sp>
      <p:sp>
        <p:nvSpPr>
          <p:cNvPr id="16" name="Text 14"/>
          <p:cNvSpPr/>
          <p:nvPr/>
        </p:nvSpPr>
        <p:spPr>
          <a:xfrm>
            <a:off x="6272784" y="1179576"/>
            <a:ext cx="50292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803136" y="1197864"/>
            <a:ext cx="1920240" cy="32004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Sleep is a reliable early warning</a:t>
            </a:r>
            <a:endParaRPr lang="en-US" sz="1000" dirty="0"/>
          </a:p>
        </p:txBody>
      </p:sp>
      <p:sp>
        <p:nvSpPr>
          <p:cNvPr id="18" name="Text 16"/>
          <p:cNvSpPr/>
          <p:nvPr/>
        </p:nvSpPr>
        <p:spPr>
          <a:xfrm>
            <a:off x="6272784" y="1581912"/>
            <a:ext cx="2468880" cy="91440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17% importance. Below 5.5h correlates strongly with burnout escalation across all three models.</a:t>
            </a:r>
            <a:endParaRPr lang="en-US" sz="950" dirty="0"/>
          </a:p>
        </p:txBody>
      </p:sp>
      <p:sp>
        <p:nvSpPr>
          <p:cNvPr id="19" name="Shape 17"/>
          <p:cNvSpPr/>
          <p:nvPr/>
        </p:nvSpPr>
        <p:spPr>
          <a:xfrm>
            <a:off x="457200" y="2834640"/>
            <a:ext cx="2697480" cy="1627632"/>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20" name="Shape 18"/>
          <p:cNvSpPr/>
          <p:nvPr/>
        </p:nvSpPr>
        <p:spPr>
          <a:xfrm>
            <a:off x="457200" y="2834640"/>
            <a:ext cx="2697480" cy="91440"/>
          </a:xfrm>
          <a:prstGeom prst="rect">
            <a:avLst/>
          </a:prstGeom>
          <a:solidFill>
            <a:srgbClr val="1A2B4A"/>
          </a:solidFill>
          <a:ln w="12700">
            <a:solidFill>
              <a:srgbClr val="1A2B4A"/>
            </a:solidFill>
            <a:prstDash val="solid"/>
          </a:ln>
        </p:spPr>
      </p:sp>
      <p:sp>
        <p:nvSpPr>
          <p:cNvPr id="21" name="Text 19"/>
          <p:cNvSpPr/>
          <p:nvPr/>
        </p:nvSpPr>
        <p:spPr>
          <a:xfrm>
            <a:off x="566928" y="2962656"/>
            <a:ext cx="502920" cy="320040"/>
          </a:xfrm>
          <a:prstGeom prst="rect">
            <a:avLst/>
          </a:prstGeom>
          <a:noFill/>
          <a:ln/>
        </p:spPr>
        <p:txBody>
          <a:bodyPr wrap="square"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097280" y="2980944"/>
            <a:ext cx="1920240" cy="32004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Work hours alone are insufficient</a:t>
            </a:r>
            <a:endParaRPr lang="en-US" sz="1000" dirty="0"/>
          </a:p>
        </p:txBody>
      </p:sp>
      <p:sp>
        <p:nvSpPr>
          <p:cNvPr id="23" name="Text 21"/>
          <p:cNvSpPr/>
          <p:nvPr/>
        </p:nvSpPr>
        <p:spPr>
          <a:xfrm>
            <a:off x="566928" y="3364992"/>
            <a:ext cx="2468880" cy="91440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Only 9% importance. Burnout is multidimensional — high hours without recovery time is the real problem.</a:t>
            </a:r>
            <a:endParaRPr lang="en-US" sz="950" dirty="0"/>
          </a:p>
        </p:txBody>
      </p:sp>
      <p:sp>
        <p:nvSpPr>
          <p:cNvPr id="29" name="Shape 27"/>
          <p:cNvSpPr/>
          <p:nvPr/>
        </p:nvSpPr>
        <p:spPr>
          <a:xfrm>
            <a:off x="3314700" y="2825496"/>
            <a:ext cx="2697480" cy="1627632"/>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30" name="Shape 28"/>
          <p:cNvSpPr/>
          <p:nvPr/>
        </p:nvSpPr>
        <p:spPr>
          <a:xfrm>
            <a:off x="3310128" y="2834640"/>
            <a:ext cx="2697480" cy="91440"/>
          </a:xfrm>
          <a:prstGeom prst="rect">
            <a:avLst/>
          </a:prstGeom>
          <a:solidFill>
            <a:srgbClr val="0E7C7B"/>
          </a:solidFill>
          <a:ln w="12700">
            <a:solidFill>
              <a:srgbClr val="0E7C7B"/>
            </a:solidFill>
            <a:prstDash val="solid"/>
          </a:ln>
        </p:spPr>
      </p:sp>
      <p:sp>
        <p:nvSpPr>
          <p:cNvPr id="31" name="Text 29"/>
          <p:cNvSpPr/>
          <p:nvPr/>
        </p:nvSpPr>
        <p:spPr>
          <a:xfrm>
            <a:off x="3424428" y="2953512"/>
            <a:ext cx="502920" cy="32004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3954780" y="2971800"/>
            <a:ext cx="1920240" cy="32004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Simple models can outperform complex ones</a:t>
            </a:r>
            <a:endParaRPr lang="en-US" sz="1000" dirty="0"/>
          </a:p>
        </p:txBody>
      </p:sp>
      <p:sp>
        <p:nvSpPr>
          <p:cNvPr id="33" name="Text 31"/>
          <p:cNvSpPr/>
          <p:nvPr/>
        </p:nvSpPr>
        <p:spPr>
          <a:xfrm>
            <a:off x="3424428" y="3355848"/>
            <a:ext cx="2468880" cy="91440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LR at 97.5% beat RF at 97.0%. When data is clean and relationships are linear, complexity adds no value.</a:t>
            </a:r>
            <a:endParaRPr lang="en-US" sz="950" dirty="0"/>
          </a:p>
        </p:txBody>
      </p:sp>
      <p:sp>
        <p:nvSpPr>
          <p:cNvPr id="34" name="TextBox 33"/>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12 / 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2B4A"/>
                </a:solidFill>
                <a:latin typeface="Calibri" pitchFamily="34" charset="0"/>
                <a:ea typeface="Calibri" pitchFamily="34" charset="-122"/>
                <a:cs typeface="Calibri" pitchFamily="34" charset="-120"/>
              </a:rPr>
              <a:t>Limitations &amp; Ethical Considerations</a:t>
            </a:r>
            <a:endParaRPr lang="en-US" sz="2600" dirty="0"/>
          </a:p>
        </p:txBody>
      </p:sp>
      <p:sp>
        <p:nvSpPr>
          <p:cNvPr id="3" name="Shape 1"/>
          <p:cNvSpPr/>
          <p:nvPr/>
        </p:nvSpPr>
        <p:spPr>
          <a:xfrm>
            <a:off x="457200" y="786384"/>
            <a:ext cx="1097280" cy="50292"/>
          </a:xfrm>
          <a:prstGeom prst="rect">
            <a:avLst/>
          </a:prstGeom>
          <a:solidFill>
            <a:srgbClr val="0E7C7B"/>
          </a:solidFill>
          <a:ln w="12700">
            <a:solidFill>
              <a:srgbClr val="0E7C7B"/>
            </a:solidFill>
            <a:prstDash val="solid"/>
          </a:ln>
        </p:spPr>
      </p:sp>
      <p:sp>
        <p:nvSpPr>
          <p:cNvPr id="4" name="Shape 2"/>
          <p:cNvSpPr/>
          <p:nvPr/>
        </p:nvSpPr>
        <p:spPr>
          <a:xfrm>
            <a:off x="457200" y="960120"/>
            <a:ext cx="4069080" cy="37947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sp>
      <p:sp>
        <p:nvSpPr>
          <p:cNvPr id="5" name="Shape 3"/>
          <p:cNvSpPr/>
          <p:nvPr/>
        </p:nvSpPr>
        <p:spPr>
          <a:xfrm>
            <a:off x="457200" y="960120"/>
            <a:ext cx="4069080" cy="91440"/>
          </a:xfrm>
          <a:prstGeom prst="rect">
            <a:avLst/>
          </a:prstGeom>
          <a:solidFill>
            <a:srgbClr val="F59E0B"/>
          </a:solidFill>
          <a:ln w="12700">
            <a:solidFill>
              <a:srgbClr val="F59E0B"/>
            </a:solidFill>
            <a:prstDash val="solid"/>
          </a:ln>
        </p:spPr>
      </p:sp>
      <p:sp>
        <p:nvSpPr>
          <p:cNvPr id="6" name="Text 4"/>
          <p:cNvSpPr/>
          <p:nvPr/>
        </p:nvSpPr>
        <p:spPr>
          <a:xfrm>
            <a:off x="594360" y="1115568"/>
            <a:ext cx="37947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  Limitations</a:t>
            </a:r>
            <a:endParaRPr lang="en-US" sz="1300" dirty="0"/>
          </a:p>
        </p:txBody>
      </p:sp>
      <p:sp>
        <p:nvSpPr>
          <p:cNvPr id="7" name="Shape 5"/>
          <p:cNvSpPr/>
          <p:nvPr/>
        </p:nvSpPr>
        <p:spPr>
          <a:xfrm>
            <a:off x="566928" y="1554480"/>
            <a:ext cx="45720" cy="502920"/>
          </a:xfrm>
          <a:prstGeom prst="rect">
            <a:avLst/>
          </a:prstGeom>
          <a:solidFill>
            <a:srgbClr val="F59E0B"/>
          </a:solidFill>
          <a:ln w="12700">
            <a:solidFill>
              <a:srgbClr val="F59E0B"/>
            </a:solidFill>
            <a:prstDash val="solid"/>
          </a:ln>
        </p:spPr>
      </p:sp>
      <p:sp>
        <p:nvSpPr>
          <p:cNvPr id="8" name="Text 6"/>
          <p:cNvSpPr/>
          <p:nvPr/>
        </p:nvSpPr>
        <p:spPr>
          <a:xfrm>
            <a:off x="713232" y="1572768"/>
            <a:ext cx="3566160" cy="237744"/>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Synthetic Dataset</a:t>
            </a:r>
            <a:endParaRPr lang="en-US" sz="1050" dirty="0"/>
          </a:p>
        </p:txBody>
      </p:sp>
      <p:sp>
        <p:nvSpPr>
          <p:cNvPr id="9" name="Text 7"/>
          <p:cNvSpPr/>
          <p:nvPr/>
        </p:nvSpPr>
        <p:spPr>
          <a:xfrm>
            <a:off x="713232" y="1810512"/>
            <a:ext cx="35661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Kaggle data is artificially generated — may not capture real cultural dynamics.</a:t>
            </a:r>
            <a:endParaRPr lang="en-US" sz="950" dirty="0"/>
          </a:p>
        </p:txBody>
      </p:sp>
      <p:sp>
        <p:nvSpPr>
          <p:cNvPr id="10" name="Shape 8"/>
          <p:cNvSpPr/>
          <p:nvPr/>
        </p:nvSpPr>
        <p:spPr>
          <a:xfrm>
            <a:off x="566928" y="2322576"/>
            <a:ext cx="45720" cy="502920"/>
          </a:xfrm>
          <a:prstGeom prst="rect">
            <a:avLst/>
          </a:prstGeom>
          <a:solidFill>
            <a:srgbClr val="F59E0B"/>
          </a:solidFill>
          <a:ln w="12700">
            <a:solidFill>
              <a:srgbClr val="F59E0B"/>
            </a:solidFill>
            <a:prstDash val="solid"/>
          </a:ln>
        </p:spPr>
      </p:sp>
      <p:sp>
        <p:nvSpPr>
          <p:cNvPr id="11" name="Text 9"/>
          <p:cNvSpPr/>
          <p:nvPr/>
        </p:nvSpPr>
        <p:spPr>
          <a:xfrm>
            <a:off x="713232" y="2340864"/>
            <a:ext cx="3566160" cy="237744"/>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Small High-Risk Group</a:t>
            </a:r>
            <a:endParaRPr lang="en-US" sz="1050" dirty="0"/>
          </a:p>
        </p:txBody>
      </p:sp>
      <p:sp>
        <p:nvSpPr>
          <p:cNvPr id="12" name="Text 10"/>
          <p:cNvSpPr/>
          <p:nvPr/>
        </p:nvSpPr>
        <p:spPr>
          <a:xfrm>
            <a:off x="713232" y="2578608"/>
            <a:ext cx="35661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138 High-Risk records. Good results, but rare patterns may still be missed.</a:t>
            </a:r>
            <a:endParaRPr lang="en-US" sz="950" dirty="0"/>
          </a:p>
        </p:txBody>
      </p:sp>
      <p:sp>
        <p:nvSpPr>
          <p:cNvPr id="13" name="Shape 11"/>
          <p:cNvSpPr/>
          <p:nvPr/>
        </p:nvSpPr>
        <p:spPr>
          <a:xfrm>
            <a:off x="566928" y="3090672"/>
            <a:ext cx="45720" cy="502920"/>
          </a:xfrm>
          <a:prstGeom prst="rect">
            <a:avLst/>
          </a:prstGeom>
          <a:solidFill>
            <a:srgbClr val="F59E0B"/>
          </a:solidFill>
          <a:ln w="12700">
            <a:solidFill>
              <a:srgbClr val="F59E0B"/>
            </a:solidFill>
            <a:prstDash val="solid"/>
          </a:ln>
        </p:spPr>
      </p:sp>
      <p:sp>
        <p:nvSpPr>
          <p:cNvPr id="14" name="Text 12"/>
          <p:cNvSpPr/>
          <p:nvPr/>
        </p:nvSpPr>
        <p:spPr>
          <a:xfrm>
            <a:off x="713232" y="3108960"/>
            <a:ext cx="3566160" cy="237744"/>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Limited Features</a:t>
            </a:r>
            <a:endParaRPr lang="en-US" sz="1050" dirty="0"/>
          </a:p>
        </p:txBody>
      </p:sp>
      <p:sp>
        <p:nvSpPr>
          <p:cNvPr id="15" name="Text 13"/>
          <p:cNvSpPr/>
          <p:nvPr/>
        </p:nvSpPr>
        <p:spPr>
          <a:xfrm>
            <a:off x="713232" y="3346704"/>
            <a:ext cx="35661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No manager quality, salary satisfaction, or personal life stressors.</a:t>
            </a:r>
            <a:endParaRPr lang="en-US" sz="950" dirty="0"/>
          </a:p>
        </p:txBody>
      </p:sp>
      <p:sp>
        <p:nvSpPr>
          <p:cNvPr id="16" name="Shape 14"/>
          <p:cNvSpPr/>
          <p:nvPr/>
        </p:nvSpPr>
        <p:spPr>
          <a:xfrm>
            <a:off x="566928" y="3858768"/>
            <a:ext cx="45720" cy="502920"/>
          </a:xfrm>
          <a:prstGeom prst="rect">
            <a:avLst/>
          </a:prstGeom>
          <a:solidFill>
            <a:srgbClr val="F59E0B"/>
          </a:solidFill>
          <a:ln w="12700">
            <a:solidFill>
              <a:srgbClr val="F59E0B"/>
            </a:solidFill>
            <a:prstDash val="solid"/>
          </a:ln>
        </p:spPr>
      </p:sp>
      <p:sp>
        <p:nvSpPr>
          <p:cNvPr id="17" name="Text 15"/>
          <p:cNvSpPr/>
          <p:nvPr/>
        </p:nvSpPr>
        <p:spPr>
          <a:xfrm>
            <a:off x="713232" y="3877056"/>
            <a:ext cx="3566160" cy="237744"/>
          </a:xfrm>
          <a:prstGeom prst="rect">
            <a:avLst/>
          </a:prstGeom>
          <a:noFill/>
          <a:ln/>
        </p:spPr>
        <p:txBody>
          <a:bodyPr wrap="square" rtlCol="0" anchor="ctr"/>
          <a:lstStyle/>
          <a:p>
            <a:pPr marL="0" indent="0">
              <a:buNone/>
            </a:pPr>
            <a:r>
              <a:rPr lang="en-US" sz="1050" b="1" dirty="0">
                <a:solidFill>
                  <a:srgbClr val="1A2B4A"/>
                </a:solidFill>
                <a:latin typeface="Calibri" pitchFamily="34" charset="0"/>
                <a:ea typeface="Calibri" pitchFamily="34" charset="-122"/>
                <a:cs typeface="Calibri" pitchFamily="34" charset="-120"/>
              </a:rPr>
              <a:t>Generalization Risk</a:t>
            </a:r>
            <a:endParaRPr lang="en-US" sz="1050" dirty="0"/>
          </a:p>
        </p:txBody>
      </p:sp>
      <p:sp>
        <p:nvSpPr>
          <p:cNvPr id="18" name="Text 16"/>
          <p:cNvSpPr/>
          <p:nvPr/>
        </p:nvSpPr>
        <p:spPr>
          <a:xfrm>
            <a:off x="713232" y="4114800"/>
            <a:ext cx="3566160" cy="384048"/>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 model trained on synthetic data may not transfer to specific industries.</a:t>
            </a:r>
            <a:endParaRPr lang="en-US" sz="950" dirty="0"/>
          </a:p>
        </p:txBody>
      </p:sp>
      <p:sp>
        <p:nvSpPr>
          <p:cNvPr id="19" name="Shape 17"/>
          <p:cNvSpPr/>
          <p:nvPr/>
        </p:nvSpPr>
        <p:spPr>
          <a:xfrm>
            <a:off x="4709160" y="960120"/>
            <a:ext cx="3977640" cy="3794760"/>
          </a:xfrm>
          <a:prstGeom prst="rect">
            <a:avLst/>
          </a:prstGeom>
          <a:solidFill>
            <a:srgbClr val="FFFFFF"/>
          </a:solidFill>
          <a:ln w="10160">
            <a:solidFill>
              <a:srgbClr val="D1D5DB"/>
            </a:solidFill>
            <a:prstDash val="solid"/>
          </a:ln>
          <a:effectLst>
            <a:outerShdw blurRad="101600" dist="38100" dir="8100000" algn="bl" rotWithShape="0">
              <a:srgbClr val="000000">
                <a:alpha val="8000"/>
              </a:srgbClr>
            </a:outerShdw>
          </a:effectLst>
        </p:spPr>
        <p:txBody>
          <a:bodyPr/>
          <a:lstStyle/>
          <a:p>
            <a:endParaRPr lang="en-US" dirty="0"/>
          </a:p>
        </p:txBody>
      </p:sp>
      <p:sp>
        <p:nvSpPr>
          <p:cNvPr id="20" name="Shape 18"/>
          <p:cNvSpPr/>
          <p:nvPr/>
        </p:nvSpPr>
        <p:spPr>
          <a:xfrm>
            <a:off x="4709160" y="960120"/>
            <a:ext cx="3977640" cy="91440"/>
          </a:xfrm>
          <a:prstGeom prst="rect">
            <a:avLst/>
          </a:prstGeom>
          <a:solidFill>
            <a:srgbClr val="0E7C7B"/>
          </a:solidFill>
          <a:ln w="12700">
            <a:solidFill>
              <a:srgbClr val="0E7C7B"/>
            </a:solidFill>
            <a:prstDash val="solid"/>
          </a:ln>
        </p:spPr>
      </p:sp>
      <p:sp>
        <p:nvSpPr>
          <p:cNvPr id="21" name="Text 19"/>
          <p:cNvSpPr/>
          <p:nvPr/>
        </p:nvSpPr>
        <p:spPr>
          <a:xfrm>
            <a:off x="4846320" y="1115568"/>
            <a:ext cx="3657600" cy="320040"/>
          </a:xfrm>
          <a:prstGeom prst="rect">
            <a:avLst/>
          </a:prstGeom>
          <a:noFill/>
          <a:ln/>
        </p:spPr>
        <p:txBody>
          <a:bodyPr wrap="square"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  Ethical Considerations</a:t>
            </a:r>
            <a:endParaRPr lang="en-US" sz="1300" dirty="0"/>
          </a:p>
        </p:txBody>
      </p:sp>
      <p:sp>
        <p:nvSpPr>
          <p:cNvPr id="22" name="Shape 20"/>
          <p:cNvSpPr/>
          <p:nvPr/>
        </p:nvSpPr>
        <p:spPr>
          <a:xfrm>
            <a:off x="4818888" y="1554480"/>
            <a:ext cx="45720" cy="384048"/>
          </a:xfrm>
          <a:prstGeom prst="rect">
            <a:avLst/>
          </a:prstGeom>
          <a:solidFill>
            <a:srgbClr val="0E7C7B"/>
          </a:solidFill>
          <a:ln w="12700">
            <a:solidFill>
              <a:srgbClr val="0E7C7B"/>
            </a:solidFill>
            <a:prstDash val="solid"/>
          </a:ln>
        </p:spPr>
      </p:sp>
      <p:sp>
        <p:nvSpPr>
          <p:cNvPr id="23" name="Text 21"/>
          <p:cNvSpPr/>
          <p:nvPr/>
        </p:nvSpPr>
        <p:spPr>
          <a:xfrm>
            <a:off x="4965192" y="1554480"/>
            <a:ext cx="3566160" cy="22860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Support, Not Surveillance</a:t>
            </a:r>
            <a:endParaRPr lang="en-US" sz="1000" dirty="0"/>
          </a:p>
        </p:txBody>
      </p:sp>
      <p:sp>
        <p:nvSpPr>
          <p:cNvPr id="24" name="Text 22"/>
          <p:cNvSpPr/>
          <p:nvPr/>
        </p:nvSpPr>
        <p:spPr>
          <a:xfrm>
            <a:off x="4965192" y="1783080"/>
            <a:ext cx="3566160" cy="329184"/>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Predictions are recommendations — a human must review each flagged case.</a:t>
            </a:r>
            <a:endParaRPr lang="en-US" sz="900" dirty="0"/>
          </a:p>
        </p:txBody>
      </p:sp>
      <p:sp>
        <p:nvSpPr>
          <p:cNvPr id="25" name="Shape 23"/>
          <p:cNvSpPr/>
          <p:nvPr/>
        </p:nvSpPr>
        <p:spPr>
          <a:xfrm>
            <a:off x="4818888" y="2167128"/>
            <a:ext cx="45720" cy="384048"/>
          </a:xfrm>
          <a:prstGeom prst="rect">
            <a:avLst/>
          </a:prstGeom>
          <a:solidFill>
            <a:srgbClr val="0E7C7B"/>
          </a:solidFill>
          <a:ln w="12700">
            <a:solidFill>
              <a:srgbClr val="0E7C7B"/>
            </a:solidFill>
            <a:prstDash val="solid"/>
          </a:ln>
        </p:spPr>
      </p:sp>
      <p:sp>
        <p:nvSpPr>
          <p:cNvPr id="26" name="Text 24"/>
          <p:cNvSpPr/>
          <p:nvPr/>
        </p:nvSpPr>
        <p:spPr>
          <a:xfrm>
            <a:off x="4965192" y="2167128"/>
            <a:ext cx="3566160" cy="22860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No Penalization</a:t>
            </a:r>
            <a:endParaRPr lang="en-US" sz="1000" dirty="0"/>
          </a:p>
        </p:txBody>
      </p:sp>
      <p:sp>
        <p:nvSpPr>
          <p:cNvPr id="27" name="Text 25"/>
          <p:cNvSpPr/>
          <p:nvPr/>
        </p:nvSpPr>
        <p:spPr>
          <a:xfrm>
            <a:off x="4965192" y="2395728"/>
            <a:ext cx="3566160" cy="329184"/>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Must NEVER be used for termination or promotion decisions.</a:t>
            </a:r>
            <a:endParaRPr lang="en-US" sz="900" dirty="0"/>
          </a:p>
        </p:txBody>
      </p:sp>
      <p:sp>
        <p:nvSpPr>
          <p:cNvPr id="28" name="Shape 26"/>
          <p:cNvSpPr/>
          <p:nvPr/>
        </p:nvSpPr>
        <p:spPr>
          <a:xfrm>
            <a:off x="4818888" y="2779776"/>
            <a:ext cx="45720" cy="384048"/>
          </a:xfrm>
          <a:prstGeom prst="rect">
            <a:avLst/>
          </a:prstGeom>
          <a:solidFill>
            <a:srgbClr val="0E7C7B"/>
          </a:solidFill>
          <a:ln w="12700">
            <a:solidFill>
              <a:srgbClr val="0E7C7B"/>
            </a:solidFill>
            <a:prstDash val="solid"/>
          </a:ln>
        </p:spPr>
      </p:sp>
      <p:sp>
        <p:nvSpPr>
          <p:cNvPr id="29" name="Text 27"/>
          <p:cNvSpPr/>
          <p:nvPr/>
        </p:nvSpPr>
        <p:spPr>
          <a:xfrm>
            <a:off x="4965192" y="2779776"/>
            <a:ext cx="3566160" cy="22860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Transparency &amp; Consent</a:t>
            </a:r>
            <a:endParaRPr lang="en-US" sz="1000" dirty="0"/>
          </a:p>
        </p:txBody>
      </p:sp>
      <p:sp>
        <p:nvSpPr>
          <p:cNvPr id="30" name="Text 28"/>
          <p:cNvSpPr/>
          <p:nvPr/>
        </p:nvSpPr>
        <p:spPr>
          <a:xfrm>
            <a:off x="4965192" y="3008376"/>
            <a:ext cx="3566160" cy="329184"/>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Employees must know if this system is deployed in their organization.</a:t>
            </a:r>
            <a:endParaRPr lang="en-US" sz="900" dirty="0"/>
          </a:p>
        </p:txBody>
      </p:sp>
      <p:sp>
        <p:nvSpPr>
          <p:cNvPr id="31" name="Shape 29"/>
          <p:cNvSpPr/>
          <p:nvPr/>
        </p:nvSpPr>
        <p:spPr>
          <a:xfrm>
            <a:off x="4818888" y="3392424"/>
            <a:ext cx="45720" cy="384048"/>
          </a:xfrm>
          <a:prstGeom prst="rect">
            <a:avLst/>
          </a:prstGeom>
          <a:solidFill>
            <a:srgbClr val="0E7C7B"/>
          </a:solidFill>
          <a:ln w="12700">
            <a:solidFill>
              <a:srgbClr val="0E7C7B"/>
            </a:solidFill>
            <a:prstDash val="solid"/>
          </a:ln>
        </p:spPr>
      </p:sp>
      <p:sp>
        <p:nvSpPr>
          <p:cNvPr id="32" name="Text 30"/>
          <p:cNvSpPr/>
          <p:nvPr/>
        </p:nvSpPr>
        <p:spPr>
          <a:xfrm>
            <a:off x="4965192" y="3392424"/>
            <a:ext cx="3566160" cy="22860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GDPR &amp; Privacy</a:t>
            </a:r>
            <a:endParaRPr lang="en-US" sz="1000" dirty="0"/>
          </a:p>
        </p:txBody>
      </p:sp>
      <p:sp>
        <p:nvSpPr>
          <p:cNvPr id="33" name="Text 31"/>
          <p:cNvSpPr/>
          <p:nvPr/>
        </p:nvSpPr>
        <p:spPr>
          <a:xfrm>
            <a:off x="4965192" y="3621024"/>
            <a:ext cx="3566160" cy="329184"/>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All data must be anonymized. Access restricted to authorized HR only.</a:t>
            </a:r>
            <a:endParaRPr lang="en-US" sz="900" dirty="0"/>
          </a:p>
        </p:txBody>
      </p:sp>
      <p:sp>
        <p:nvSpPr>
          <p:cNvPr id="34" name="Shape 32"/>
          <p:cNvSpPr/>
          <p:nvPr/>
        </p:nvSpPr>
        <p:spPr>
          <a:xfrm>
            <a:off x="4818888" y="4005072"/>
            <a:ext cx="45720" cy="384048"/>
          </a:xfrm>
          <a:prstGeom prst="rect">
            <a:avLst/>
          </a:prstGeom>
          <a:solidFill>
            <a:srgbClr val="0E7C7B"/>
          </a:solidFill>
          <a:ln w="12700">
            <a:solidFill>
              <a:srgbClr val="0E7C7B"/>
            </a:solidFill>
            <a:prstDash val="solid"/>
          </a:ln>
        </p:spPr>
      </p:sp>
      <p:sp>
        <p:nvSpPr>
          <p:cNvPr id="35" name="Text 33"/>
          <p:cNvSpPr/>
          <p:nvPr/>
        </p:nvSpPr>
        <p:spPr>
          <a:xfrm>
            <a:off x="4965192" y="4005072"/>
            <a:ext cx="3566160" cy="228600"/>
          </a:xfrm>
          <a:prstGeom prst="rect">
            <a:avLst/>
          </a:prstGeom>
          <a:noFill/>
          <a:ln/>
        </p:spPr>
        <p:txBody>
          <a:bodyPr wrap="square"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Bias Monitoring</a:t>
            </a:r>
            <a:endParaRPr lang="en-US" sz="1000" dirty="0"/>
          </a:p>
        </p:txBody>
      </p:sp>
      <p:sp>
        <p:nvSpPr>
          <p:cNvPr id="36" name="Text 34"/>
          <p:cNvSpPr/>
          <p:nvPr/>
        </p:nvSpPr>
        <p:spPr>
          <a:xfrm>
            <a:off x="4965192" y="4233672"/>
            <a:ext cx="3566160" cy="329184"/>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Regular audits needed to catch unintentional demographic bias.</a:t>
            </a:r>
            <a:endParaRPr lang="en-US" sz="900" dirty="0"/>
          </a:p>
        </p:txBody>
      </p:sp>
      <p:sp>
        <p:nvSpPr>
          <p:cNvPr id="37" name="TextBox 36"/>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13 / 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E7C7B"/>
          </a:solidFill>
          <a:ln w="12700">
            <a:solidFill>
              <a:srgbClr val="0E7C7B"/>
            </a:solidFill>
            <a:prstDash val="solid"/>
          </a:ln>
        </p:spPr>
      </p:sp>
      <p:sp>
        <p:nvSpPr>
          <p:cNvPr id="3" name="Text 1"/>
          <p:cNvSpPr/>
          <p:nvPr/>
        </p:nvSpPr>
        <p:spPr>
          <a:xfrm>
            <a:off x="502920" y="274320"/>
            <a:ext cx="8229600" cy="530352"/>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&amp; Future Work</a:t>
            </a:r>
            <a:endParaRPr lang="en-US" sz="2600" dirty="0"/>
          </a:p>
        </p:txBody>
      </p:sp>
      <p:sp>
        <p:nvSpPr>
          <p:cNvPr id="4" name="Shape 2"/>
          <p:cNvSpPr/>
          <p:nvPr/>
        </p:nvSpPr>
        <p:spPr>
          <a:xfrm>
            <a:off x="502920" y="960120"/>
            <a:ext cx="1920240" cy="1005840"/>
          </a:xfrm>
          <a:prstGeom prst="rect">
            <a:avLst/>
          </a:prstGeom>
          <a:solidFill>
            <a:srgbClr val="1A3055"/>
          </a:solidFill>
          <a:ln w="12700">
            <a:solidFill>
              <a:srgbClr val="2A5080"/>
            </a:solidFill>
            <a:prstDash val="solid"/>
          </a:ln>
        </p:spPr>
      </p:sp>
      <p:sp>
        <p:nvSpPr>
          <p:cNvPr id="5" name="Text 3"/>
          <p:cNvSpPr/>
          <p:nvPr/>
        </p:nvSpPr>
        <p:spPr>
          <a:xfrm>
            <a:off x="502920" y="1005840"/>
            <a:ext cx="1920240" cy="502920"/>
          </a:xfrm>
          <a:prstGeom prst="rect">
            <a:avLst/>
          </a:prstGeom>
          <a:noFill/>
          <a:ln/>
        </p:spPr>
        <p:txBody>
          <a:bodyPr wrap="square" rtlCol="0" anchor="ctr"/>
          <a:lstStyle/>
          <a:p>
            <a:pPr marL="0" indent="0" algn="ctr">
              <a:buNone/>
            </a:pPr>
            <a:r>
              <a:rPr lang="en-US" sz="2600" b="1" dirty="0">
                <a:solidFill>
                  <a:srgbClr val="14A5A4"/>
                </a:solidFill>
                <a:latin typeface="Calibri" pitchFamily="34" charset="0"/>
                <a:ea typeface="Calibri" pitchFamily="34" charset="-122"/>
                <a:cs typeface="Calibri" pitchFamily="34" charset="-120"/>
              </a:rPr>
              <a:t>97.50%</a:t>
            </a:r>
            <a:endParaRPr lang="en-US" sz="2600" dirty="0"/>
          </a:p>
        </p:txBody>
      </p:sp>
      <p:sp>
        <p:nvSpPr>
          <p:cNvPr id="6" name="Text 4"/>
          <p:cNvSpPr/>
          <p:nvPr/>
        </p:nvSpPr>
        <p:spPr>
          <a:xfrm>
            <a:off x="502920" y="1508760"/>
            <a:ext cx="1920240" cy="384048"/>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Best</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Accuracy</a:t>
            </a:r>
            <a:endParaRPr lang="en-US" sz="900" dirty="0"/>
          </a:p>
        </p:txBody>
      </p:sp>
      <p:sp>
        <p:nvSpPr>
          <p:cNvPr id="7" name="Shape 5"/>
          <p:cNvSpPr/>
          <p:nvPr/>
        </p:nvSpPr>
        <p:spPr>
          <a:xfrm>
            <a:off x="2651760" y="960120"/>
            <a:ext cx="1920240" cy="1005840"/>
          </a:xfrm>
          <a:prstGeom prst="rect">
            <a:avLst/>
          </a:prstGeom>
          <a:solidFill>
            <a:srgbClr val="1A3055"/>
          </a:solidFill>
          <a:ln w="12700">
            <a:solidFill>
              <a:srgbClr val="2A5080"/>
            </a:solidFill>
            <a:prstDash val="solid"/>
          </a:ln>
        </p:spPr>
      </p:sp>
      <p:sp>
        <p:nvSpPr>
          <p:cNvPr id="8" name="Text 6"/>
          <p:cNvSpPr/>
          <p:nvPr/>
        </p:nvSpPr>
        <p:spPr>
          <a:xfrm>
            <a:off x="2651760" y="1005840"/>
            <a:ext cx="1920240" cy="502920"/>
          </a:xfrm>
          <a:prstGeom prst="rect">
            <a:avLst/>
          </a:prstGeom>
          <a:noFill/>
          <a:ln/>
        </p:spPr>
        <p:txBody>
          <a:bodyPr wrap="square" rtlCol="0" anchor="ctr"/>
          <a:lstStyle/>
          <a:p>
            <a:pPr marL="0" indent="0" algn="ctr">
              <a:buNone/>
            </a:pPr>
            <a:r>
              <a:rPr lang="en-US" sz="2600" b="1" dirty="0">
                <a:solidFill>
                  <a:srgbClr val="14A5A4"/>
                </a:solidFill>
                <a:latin typeface="Calibri" pitchFamily="34" charset="0"/>
                <a:ea typeface="Calibri" pitchFamily="34" charset="-122"/>
                <a:cs typeface="Calibri" pitchFamily="34" charset="-120"/>
              </a:rPr>
              <a:t>0.96</a:t>
            </a:r>
            <a:endParaRPr lang="en-US" sz="2600" dirty="0"/>
          </a:p>
        </p:txBody>
      </p:sp>
      <p:sp>
        <p:nvSpPr>
          <p:cNvPr id="9" name="Text 7"/>
          <p:cNvSpPr/>
          <p:nvPr/>
        </p:nvSpPr>
        <p:spPr>
          <a:xfrm>
            <a:off x="2651760" y="1508760"/>
            <a:ext cx="1920240" cy="384048"/>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F1</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Macro</a:t>
            </a:r>
            <a:endParaRPr lang="en-US" sz="900" dirty="0"/>
          </a:p>
        </p:txBody>
      </p:sp>
      <p:sp>
        <p:nvSpPr>
          <p:cNvPr id="10" name="Shape 8"/>
          <p:cNvSpPr/>
          <p:nvPr/>
        </p:nvSpPr>
        <p:spPr>
          <a:xfrm>
            <a:off x="4800600" y="960120"/>
            <a:ext cx="1920240" cy="1005840"/>
          </a:xfrm>
          <a:prstGeom prst="rect">
            <a:avLst/>
          </a:prstGeom>
          <a:solidFill>
            <a:srgbClr val="1A3055"/>
          </a:solidFill>
          <a:ln w="12700">
            <a:solidFill>
              <a:srgbClr val="2A5080"/>
            </a:solidFill>
            <a:prstDash val="solid"/>
          </a:ln>
        </p:spPr>
      </p:sp>
      <p:sp>
        <p:nvSpPr>
          <p:cNvPr id="11" name="Text 9"/>
          <p:cNvSpPr/>
          <p:nvPr/>
        </p:nvSpPr>
        <p:spPr>
          <a:xfrm>
            <a:off x="4800600" y="1005840"/>
            <a:ext cx="1920240" cy="502920"/>
          </a:xfrm>
          <a:prstGeom prst="rect">
            <a:avLst/>
          </a:prstGeom>
          <a:noFill/>
          <a:ln/>
        </p:spPr>
        <p:txBody>
          <a:bodyPr wrap="square" rtlCol="0" anchor="ctr"/>
          <a:lstStyle/>
          <a:p>
            <a:pPr marL="0" indent="0" algn="ctr">
              <a:buNone/>
            </a:pPr>
            <a:r>
              <a:rPr lang="en-US" sz="2600" b="1" dirty="0">
                <a:solidFill>
                  <a:srgbClr val="14A5A4"/>
                </a:solidFill>
                <a:latin typeface="Calibri" pitchFamily="34" charset="0"/>
                <a:ea typeface="Calibri" pitchFamily="34" charset="-122"/>
                <a:cs typeface="Calibri" pitchFamily="34" charset="-120"/>
              </a:rPr>
              <a:t>2,000</a:t>
            </a:r>
            <a:endParaRPr lang="en-US" sz="2600" dirty="0"/>
          </a:p>
        </p:txBody>
      </p:sp>
      <p:sp>
        <p:nvSpPr>
          <p:cNvPr id="12" name="Text 10"/>
          <p:cNvSpPr/>
          <p:nvPr/>
        </p:nvSpPr>
        <p:spPr>
          <a:xfrm>
            <a:off x="4800600" y="1508760"/>
            <a:ext cx="1920240" cy="384048"/>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Records</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Analyzed</a:t>
            </a:r>
            <a:endParaRPr lang="en-US" sz="900" dirty="0"/>
          </a:p>
        </p:txBody>
      </p:sp>
      <p:sp>
        <p:nvSpPr>
          <p:cNvPr id="13" name="Shape 11"/>
          <p:cNvSpPr/>
          <p:nvPr/>
        </p:nvSpPr>
        <p:spPr>
          <a:xfrm>
            <a:off x="6949440" y="960120"/>
            <a:ext cx="1920240" cy="1005840"/>
          </a:xfrm>
          <a:prstGeom prst="rect">
            <a:avLst/>
          </a:prstGeom>
          <a:solidFill>
            <a:srgbClr val="1A3055"/>
          </a:solidFill>
          <a:ln w="12700">
            <a:solidFill>
              <a:srgbClr val="2A5080"/>
            </a:solidFill>
            <a:prstDash val="solid"/>
          </a:ln>
        </p:spPr>
      </p:sp>
      <p:sp>
        <p:nvSpPr>
          <p:cNvPr id="14" name="Text 12"/>
          <p:cNvSpPr/>
          <p:nvPr/>
        </p:nvSpPr>
        <p:spPr>
          <a:xfrm>
            <a:off x="6949440" y="1005840"/>
            <a:ext cx="1920240" cy="502920"/>
          </a:xfrm>
          <a:prstGeom prst="rect">
            <a:avLst/>
          </a:prstGeom>
          <a:noFill/>
          <a:ln/>
        </p:spPr>
        <p:txBody>
          <a:bodyPr wrap="square" rtlCol="0" anchor="ctr"/>
          <a:lstStyle/>
          <a:p>
            <a:pPr marL="0" indent="0" algn="ctr">
              <a:buNone/>
            </a:pPr>
            <a:r>
              <a:rPr lang="en-US" sz="2600" b="1" dirty="0">
                <a:solidFill>
                  <a:srgbClr val="14A5A4"/>
                </a:solidFill>
                <a:latin typeface="Calibri" pitchFamily="34" charset="0"/>
                <a:ea typeface="Calibri" pitchFamily="34" charset="-122"/>
                <a:cs typeface="Calibri" pitchFamily="34" charset="-120"/>
              </a:rPr>
              <a:t>98%</a:t>
            </a:r>
            <a:endParaRPr lang="en-US" sz="2600" dirty="0"/>
          </a:p>
        </p:txBody>
      </p:sp>
      <p:sp>
        <p:nvSpPr>
          <p:cNvPr id="15" name="Text 13"/>
          <p:cNvSpPr/>
          <p:nvPr/>
        </p:nvSpPr>
        <p:spPr>
          <a:xfrm>
            <a:off x="6949440" y="1508760"/>
            <a:ext cx="1920240" cy="384048"/>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High-Risk</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Recall</a:t>
            </a:r>
            <a:endParaRPr lang="en-US" sz="900" dirty="0"/>
          </a:p>
        </p:txBody>
      </p:sp>
      <p:sp>
        <p:nvSpPr>
          <p:cNvPr id="16" name="Shape 14"/>
          <p:cNvSpPr/>
          <p:nvPr/>
        </p:nvSpPr>
        <p:spPr>
          <a:xfrm>
            <a:off x="502920" y="2121408"/>
            <a:ext cx="3931920" cy="2697480"/>
          </a:xfrm>
          <a:prstGeom prst="rect">
            <a:avLst/>
          </a:prstGeom>
          <a:solidFill>
            <a:srgbClr val="132038"/>
          </a:solidFill>
          <a:ln w="10160">
            <a:solidFill>
              <a:srgbClr val="2A4A65"/>
            </a:solidFill>
            <a:prstDash val="solid"/>
          </a:ln>
        </p:spPr>
      </p:sp>
      <p:sp>
        <p:nvSpPr>
          <p:cNvPr id="17" name="Text 15"/>
          <p:cNvSpPr/>
          <p:nvPr/>
        </p:nvSpPr>
        <p:spPr>
          <a:xfrm>
            <a:off x="658368" y="2212848"/>
            <a:ext cx="3566160" cy="292608"/>
          </a:xfrm>
          <a:prstGeom prst="rect">
            <a:avLst/>
          </a:prstGeom>
          <a:noFill/>
          <a:ln/>
        </p:spPr>
        <p:txBody>
          <a:bodyPr wrap="square" rtlCol="0" anchor="ctr"/>
          <a:lstStyle/>
          <a:p>
            <a:pPr marL="0" indent="0">
              <a:buNone/>
            </a:pPr>
            <a:r>
              <a:rPr lang="en-US" sz="1200" b="1" dirty="0">
                <a:solidFill>
                  <a:srgbClr val="14A5A4"/>
                </a:solidFill>
                <a:latin typeface="Calibri" pitchFamily="34" charset="0"/>
                <a:ea typeface="Calibri" pitchFamily="34" charset="-122"/>
                <a:cs typeface="Calibri" pitchFamily="34" charset="-120"/>
              </a:rPr>
              <a:t>What We Achieved</a:t>
            </a:r>
            <a:endParaRPr lang="en-US" sz="1200" dirty="0"/>
          </a:p>
        </p:txBody>
      </p:sp>
      <p:sp>
        <p:nvSpPr>
          <p:cNvPr id="18" name="Text 16"/>
          <p:cNvSpPr/>
          <p:nvPr/>
        </p:nvSpPr>
        <p:spPr>
          <a:xfrm>
            <a:off x="658368" y="2578608"/>
            <a:ext cx="3566160" cy="2057400"/>
          </a:xfrm>
          <a:prstGeom prst="rect">
            <a:avLst/>
          </a:prstGeom>
          <a:noFill/>
          <a:ln/>
        </p:spPr>
        <p:txBody>
          <a:bodyPr wrap="square" rtlCol="0" anchor="ctr"/>
          <a:lstStyle/>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End-to-end ML pipeline from raw data to deployed app</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97.5% accuracy with an interpretable, fast model</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Handled class imbalance for the 7% minority group</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Identified fatigue &amp; isolation as key burnout drivers</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Delivered a usable no-code HR tool via Streamlit</a:t>
            </a:r>
            <a:endParaRPr lang="en-US" sz="1050" dirty="0"/>
          </a:p>
        </p:txBody>
      </p:sp>
      <p:sp>
        <p:nvSpPr>
          <p:cNvPr id="19" name="Shape 17"/>
          <p:cNvSpPr/>
          <p:nvPr/>
        </p:nvSpPr>
        <p:spPr>
          <a:xfrm>
            <a:off x="4709160" y="2121408"/>
            <a:ext cx="3931920" cy="2697480"/>
          </a:xfrm>
          <a:prstGeom prst="rect">
            <a:avLst/>
          </a:prstGeom>
          <a:solidFill>
            <a:srgbClr val="132038"/>
          </a:solidFill>
          <a:ln w="10160">
            <a:solidFill>
              <a:srgbClr val="2A4A65"/>
            </a:solidFill>
            <a:prstDash val="solid"/>
          </a:ln>
        </p:spPr>
      </p:sp>
      <p:sp>
        <p:nvSpPr>
          <p:cNvPr id="20" name="Text 18"/>
          <p:cNvSpPr/>
          <p:nvPr/>
        </p:nvSpPr>
        <p:spPr>
          <a:xfrm>
            <a:off x="4864608" y="2212848"/>
            <a:ext cx="3566160" cy="292608"/>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Future Work</a:t>
            </a:r>
            <a:endParaRPr lang="en-US" sz="1200" dirty="0"/>
          </a:p>
        </p:txBody>
      </p:sp>
      <p:sp>
        <p:nvSpPr>
          <p:cNvPr id="21" name="Text 19"/>
          <p:cNvSpPr/>
          <p:nvPr/>
        </p:nvSpPr>
        <p:spPr>
          <a:xfrm>
            <a:off x="4864608" y="2578608"/>
            <a:ext cx="3566160" cy="2057400"/>
          </a:xfrm>
          <a:prstGeom prst="rect">
            <a:avLst/>
          </a:prstGeom>
          <a:noFill/>
          <a:ln/>
        </p:spPr>
        <p:txBody>
          <a:bodyPr wrap="square" rtlCol="0" anchor="ctr"/>
          <a:lstStyle/>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Validate on real anonymized employee data</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Add features: manager ratings, salary, commute</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Explore XGBoost and SVM for comparison</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Integrate with HR systems for automated alerts</a:t>
            </a:r>
            <a:endParaRPr lang="en-US" sz="1050" dirty="0"/>
          </a:p>
          <a:p>
            <a:pPr marL="342900" indent="-342900">
              <a:buSzPct val="100000"/>
              <a:buChar char="•"/>
            </a:pPr>
            <a:r>
              <a:rPr lang="en-US" sz="1050" dirty="0">
                <a:solidFill>
                  <a:srgbClr val="C8D8E8"/>
                </a:solidFill>
                <a:latin typeface="Calibri" pitchFamily="34" charset="0"/>
                <a:ea typeface="Calibri" pitchFamily="34" charset="-122"/>
                <a:cs typeface="Calibri" pitchFamily="34" charset="-120"/>
              </a:rPr>
              <a:t>Longitudinal tracking: monitor burnout change over time</a:t>
            </a:r>
            <a:endParaRPr lang="en-US" sz="1050" dirty="0"/>
          </a:p>
        </p:txBody>
      </p:sp>
      <p:sp>
        <p:nvSpPr>
          <p:cNvPr id="22" name="TextBox 21"/>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14 / 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E7C7B"/>
          </a:solidFill>
          <a:ln w="12700">
            <a:solidFill>
              <a:srgbClr val="0E7C7B"/>
            </a:solidFill>
            <a:prstDash val="solid"/>
          </a:ln>
        </p:spPr>
      </p:sp>
      <p:sp>
        <p:nvSpPr>
          <p:cNvPr id="3" name="Text 1"/>
          <p:cNvSpPr/>
          <p:nvPr/>
        </p:nvSpPr>
        <p:spPr>
          <a:xfrm>
            <a:off x="502920" y="1097280"/>
            <a:ext cx="8229600" cy="1097280"/>
          </a:xfrm>
          <a:prstGeom prst="rect">
            <a:avLst/>
          </a:prstGeom>
          <a:noFill/>
          <a:ln/>
        </p:spPr>
        <p:txBody>
          <a:bodyPr wrap="square" rtlCol="0" anchor="ctr"/>
          <a:lstStyle/>
          <a:p>
            <a:pPr marL="0" indent="0" algn="ctr">
              <a:buNone/>
            </a:pPr>
            <a:r>
              <a:rPr lang="en-US" sz="6200" b="1" dirty="0">
                <a:solidFill>
                  <a:srgbClr val="FFFFFF"/>
                </a:solidFill>
                <a:latin typeface="Calibri" pitchFamily="34" charset="0"/>
                <a:ea typeface="Calibri" pitchFamily="34" charset="-122"/>
                <a:cs typeface="Calibri" pitchFamily="34" charset="-120"/>
              </a:rPr>
              <a:t>Thank You</a:t>
            </a:r>
            <a:endParaRPr lang="en-US" sz="6200" dirty="0"/>
          </a:p>
        </p:txBody>
      </p:sp>
      <p:sp>
        <p:nvSpPr>
          <p:cNvPr id="4" name="Shape 2"/>
          <p:cNvSpPr/>
          <p:nvPr/>
        </p:nvSpPr>
        <p:spPr>
          <a:xfrm>
            <a:off x="2743200" y="2377440"/>
            <a:ext cx="3657600" cy="0"/>
          </a:xfrm>
          <a:prstGeom prst="line">
            <a:avLst/>
          </a:prstGeom>
          <a:noFill/>
          <a:ln w="25400">
            <a:solidFill>
              <a:srgbClr val="0E7C7B"/>
            </a:solidFill>
            <a:prstDash val="solid"/>
          </a:ln>
        </p:spPr>
      </p:sp>
      <p:sp>
        <p:nvSpPr>
          <p:cNvPr id="5" name="Text 3"/>
          <p:cNvSpPr/>
          <p:nvPr/>
        </p:nvSpPr>
        <p:spPr>
          <a:xfrm>
            <a:off x="502920" y="2542032"/>
            <a:ext cx="8229600" cy="502920"/>
          </a:xfrm>
          <a:prstGeom prst="rect">
            <a:avLst/>
          </a:prstGeom>
          <a:noFill/>
          <a:ln/>
        </p:spPr>
        <p:txBody>
          <a:bodyPr wrap="square" rtlCol="0" anchor="ctr"/>
          <a:lstStyle/>
          <a:p>
            <a:pPr marL="0" indent="0" algn="ctr">
              <a:buNone/>
            </a:pPr>
            <a:r>
              <a:rPr lang="en-US" sz="1800" i="1" dirty="0">
                <a:solidFill>
                  <a:srgbClr val="14A5A4"/>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502920" y="3246120"/>
            <a:ext cx="8229600" cy="384048"/>
          </a:xfrm>
          <a:prstGeom prst="rect">
            <a:avLst/>
          </a:prstGeom>
          <a:noFill/>
          <a:ln/>
        </p:spPr>
        <p:txBody>
          <a:bodyPr wrap="square"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Eman Sarhan  ·  Yasmeen Nofal  ·  Joud Hijaz  ·  Nada Tabib  ·  Maymona Khanfar</a:t>
            </a:r>
            <a:endParaRPr lang="en-US" sz="1150" dirty="0"/>
          </a:p>
        </p:txBody>
      </p:sp>
      <p:sp>
        <p:nvSpPr>
          <p:cNvPr id="7" name="Text 5"/>
          <p:cNvSpPr/>
          <p:nvPr/>
        </p:nvSpPr>
        <p:spPr>
          <a:xfrm>
            <a:off x="502920" y="3703320"/>
            <a:ext cx="8229600" cy="347472"/>
          </a:xfrm>
          <a:prstGeom prst="rect">
            <a:avLst/>
          </a:prstGeom>
          <a:noFill/>
          <a:ln/>
        </p:spPr>
        <p:txBody>
          <a:bodyPr wrap="square" rtlCol="0" anchor="ctr"/>
          <a:lstStyle/>
          <a:p>
            <a:pPr marL="0" indent="0" algn="ctr">
              <a:buNone/>
            </a:pPr>
            <a:r>
              <a:rPr lang="en-US" sz="1000" dirty="0">
                <a:solidFill>
                  <a:srgbClr val="3A5570"/>
                </a:solidFill>
                <a:latin typeface="Calibri" pitchFamily="34" charset="0"/>
                <a:ea typeface="Calibri" pitchFamily="34" charset="-122"/>
                <a:cs typeface="Calibri" pitchFamily="34" charset="-120"/>
              </a:rPr>
              <a:t>IBT × GGateway  |  Data Science &amp; ML Bootcamp  |  2026</a:t>
            </a:r>
            <a:endParaRPr lang="en-US" sz="1000" dirty="0"/>
          </a:p>
        </p:txBody>
      </p:sp>
      <p:sp>
        <p:nvSpPr>
          <p:cNvPr id="8" name="TextBox 7"/>
          <p:cNvSpPr txBox="1"/>
          <p:nvPr/>
        </p:nvSpPr>
        <p:spPr>
          <a:xfrm>
            <a:off x="8503920" y="4800600"/>
            <a:ext cx="502920" cy="256032"/>
          </a:xfrm>
          <a:prstGeom prst="rect">
            <a:avLst/>
          </a:prstGeom>
          <a:noFill/>
        </p:spPr>
        <p:txBody>
          <a:bodyPr wrap="none">
            <a:spAutoFit/>
          </a:bodyPr>
          <a:lstStyle/>
          <a:p>
            <a:pPr algn="ctr"/>
            <a:r>
              <a:rPr sz="900" b="0">
                <a:solidFill>
                  <a:srgbClr val="94A3B8"/>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3134</Words>
  <Application>Microsoft Office PowerPoint</Application>
  <PresentationFormat>On-screen Show (16:9)</PresentationFormat>
  <Paragraphs>303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Remote Work Burnout</dc:title>
  <dc:subject>PptxGenJS Presentation</dc:subject>
  <dc:creator>PptxGenJS</dc:creator>
  <cp:lastModifiedBy>hafsah khanfar</cp:lastModifiedBy>
  <cp:revision>4</cp:revision>
  <dcterms:created xsi:type="dcterms:W3CDTF">2026-04-03T20:34:54Z</dcterms:created>
  <dcterms:modified xsi:type="dcterms:W3CDTF">2026-04-05T13:59:42Z</dcterms:modified>
</cp:coreProperties>
</file>